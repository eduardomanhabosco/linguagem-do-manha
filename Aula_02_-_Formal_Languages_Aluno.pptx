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1" roundtripDataSignature="AMtx7mh7tSqDc1sjLz7AOGdWOKvtcknR7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21" Type="http://customschemas.google.com/relationships/presentationmetadata" Target="meta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" name="Google Shape;20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" name="Google Shape;36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" name="Google Shape;59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6" name="Google Shape;76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3" name="Google Shape;93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9" name="Google Shape;119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9" name="Google Shape;139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0" name="Google Shape;160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0" name="Google Shape;190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4" name="Google Shape;214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0" name="Google Shape;240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6" name="Google Shape;266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6" name="Google Shape;286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GABARITO (uso do professor):</a:t>
            </a:r>
            <a:b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1) Nenhuma opção pode pertencer a Sigma+ sem pertencer a Sigma* — Sigma+ é subconjunto de Sigma*. É uma pegadinha: a resposta correta é 'nenhuma', pois Sigma+ ⊆ Sigma*.</a:t>
            </a:r>
            <a:b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2) L1L2 = {a.eps, a.c, b.eps, b.c} = {a, ac, b, bc}.</a:t>
            </a:r>
            <a:b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3) Se Sigma+ é infinito (enumerável), então 2^(Sigma+) tem cardinalidade não-enumerável (maior que aleph-0) — conjunto das partes de um conjunto infinito enumerável é infinito não-enumerável.</a:t>
            </a:r>
            <a:endParaRPr/>
          </a:p>
        </p:txBody>
      </p:sp>
      <p:sp>
        <p:nvSpPr>
          <p:cNvPr id="287" name="Google Shape;287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6" name="Google Shape;306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GABARITO (uso do professor):</a:t>
            </a:r>
            <a:b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1) Para qualquer n, w^n gera uma palavra nova por indução (w^(n+1) = w.w^n) — como não há limite superior para n, e cada potência gera ao menos uma palavra distinta (para |w|&gt;=1), Sigma* contém infinitas palavras.</a:t>
            </a:r>
            <a:b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2) Complemento = todas as cadeias binárias que NÃO terminam em 00, incluindo cadeias que não terminam em 0, ou terminam em apenas um 0 precedido de 1, etc.</a:t>
            </a:r>
            <a:b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3) L = {letra} . {letra|digito}* — em notação de expressão regular: [a-zA-Z](letra|digito)*</a:t>
            </a:r>
            <a:endParaRPr/>
          </a:p>
        </p:txBody>
      </p:sp>
      <p:sp>
        <p:nvSpPr>
          <p:cNvPr id="307" name="Google Shape;307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0" name="Google Shape;330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Relationship Id="rId4" Type="http://schemas.openxmlformats.org/officeDocument/2006/relationships/hyperlink" Target="https://integrada.minhabiblioteca.com.br/reader/books/9788577807994/pageid/9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98AC1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grid_dark.png" id="12" name="Google Shape;1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320040"/>
            <a:ext cx="11551615" cy="621792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1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noFill/>
          <a:ln cap="flat" cmpd="sng" w="25400">
            <a:solidFill>
              <a:srgbClr val="398A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"/>
          <p:cNvSpPr/>
          <p:nvPr/>
        </p:nvSpPr>
        <p:spPr>
          <a:xfrm>
            <a:off x="914400" y="2286000"/>
            <a:ext cx="1033272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rial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Aula 2: Alfabetos, Palavras,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rial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Linguagens e Operações Fundamentais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"/>
          <p:cNvSpPr/>
          <p:nvPr/>
        </p:nvSpPr>
        <p:spPr>
          <a:xfrm>
            <a:off x="914400" y="3611880"/>
            <a:ext cx="10332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CBE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7FCBEA"/>
                </a:solidFill>
                <a:latin typeface="Arial"/>
                <a:ea typeface="Arial"/>
                <a:cs typeface="Arial"/>
                <a:sym typeface="Arial"/>
              </a:rPr>
              <a:t>A fundação matemática da computação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914400" y="5806440"/>
            <a:ext cx="10332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3F8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AF3F8"/>
                </a:solidFill>
                <a:latin typeface="Arial"/>
                <a:ea typeface="Arial"/>
                <a:cs typeface="Arial"/>
                <a:sym typeface="Arial"/>
              </a:rPr>
              <a:t>Prof. Marcos Ronaldo Melo Cavalheiro  |  UNIJUÍ – Ciência da Computação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914400" y="6108192"/>
            <a:ext cx="10332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6B5"/>
              </a:buClr>
              <a:buSzPts val="1050"/>
              <a:buFont typeface="Arial"/>
              <a:buNone/>
            </a:pPr>
            <a:r>
              <a:rPr b="0" i="1" lang="en-US" sz="1050" u="none" cap="none" strike="noStrike">
                <a:solidFill>
                  <a:srgbClr val="8FA6B5"/>
                </a:solidFill>
                <a:latin typeface="Arial"/>
                <a:ea typeface="Arial"/>
                <a:cs typeface="Arial"/>
                <a:sym typeface="Arial"/>
              </a:rPr>
              <a:t>Slides estruturados com apoio de IA generativa (Gemini / NotebookLM / Claude, Anthropic) — curadoria e revisão do professor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98AC1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grid_light.png" id="23" name="Google Shape;2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320040"/>
            <a:ext cx="11551615" cy="621792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2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noFill/>
          <a:ln cap="flat" cmpd="sng" w="25400">
            <a:solidFill>
              <a:srgbClr val="398A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2"/>
          <p:cNvSpPr/>
          <p:nvPr/>
        </p:nvSpPr>
        <p:spPr>
          <a:xfrm>
            <a:off x="685800" y="502920"/>
            <a:ext cx="10789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B4D"/>
              </a:buClr>
              <a:buSzPts val="2600"/>
              <a:buFont typeface="Arial"/>
              <a:buNone/>
            </a:pPr>
            <a:r>
              <a:rPr b="1" lang="en-US" sz="2600">
                <a:solidFill>
                  <a:srgbClr val="1F3B4D"/>
                </a:solidFill>
                <a:latin typeface="Arial"/>
                <a:ea typeface="Arial"/>
                <a:cs typeface="Arial"/>
                <a:sym typeface="Arial"/>
              </a:rPr>
              <a:t>Planejamento da Aula: Objetivos e Metodologia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2"/>
          <p:cNvSpPr/>
          <p:nvPr/>
        </p:nvSpPr>
        <p:spPr>
          <a:xfrm>
            <a:off x="685800" y="1188720"/>
            <a:ext cx="6492240" cy="457200"/>
          </a:xfrm>
          <a:prstGeom prst="rect">
            <a:avLst/>
          </a:prstGeom>
          <a:solidFill>
            <a:srgbClr val="4A7F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"/>
          <p:cNvSpPr/>
          <p:nvPr/>
        </p:nvSpPr>
        <p:spPr>
          <a:xfrm>
            <a:off x="822960" y="1188720"/>
            <a:ext cx="6217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Arial"/>
              <a:buNone/>
            </a:pPr>
            <a:r>
              <a:rPr b="1" lang="en-US" sz="15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Ao final desta aula, você será capaz de: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685800" y="1645920"/>
            <a:ext cx="6492240" cy="3154680"/>
          </a:xfrm>
          <a:prstGeom prst="rect">
            <a:avLst/>
          </a:prstGeom>
          <a:solidFill>
            <a:srgbClr val="DCE9F2"/>
          </a:solidFill>
          <a:ln cap="flat" cmpd="sng" w="12700">
            <a:solidFill>
              <a:srgbClr val="4A7F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"/>
          <p:cNvSpPr/>
          <p:nvPr/>
        </p:nvSpPr>
        <p:spPr>
          <a:xfrm>
            <a:off x="914400" y="1783080"/>
            <a:ext cx="6035040" cy="2880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50"/>
              <a:buFont typeface="Arial"/>
              <a:buNone/>
            </a:pPr>
            <a:r>
              <a:rPr lang="en-US" sz="14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Diferenciar formalmente alfabeto, palavra e linguagem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Font typeface="Calibri"/>
              <a:buNone/>
            </a:pPr>
            <a:r>
              <a:t/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50"/>
              <a:buFont typeface="Arial"/>
              <a:buNone/>
            </a:pPr>
            <a:r>
              <a:rPr lang="en-US" sz="14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Aplicar corretamente as notações Σ*, Σ⁺ e |w|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Font typeface="Calibri"/>
              <a:buNone/>
            </a:pPr>
            <a:r>
              <a:t/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50"/>
              <a:buFont typeface="Arial"/>
              <a:buNone/>
            </a:pPr>
            <a:r>
              <a:rPr lang="en-US" sz="14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Executar as operações clássicas de conjuntos sobre linguagens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Font typeface="Calibri"/>
              <a:buNone/>
            </a:pPr>
            <a:r>
              <a:t/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50"/>
              <a:buFont typeface="Arial"/>
              <a:buNone/>
            </a:pPr>
            <a:r>
              <a:rPr lang="en-US" sz="14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Reconhecer a diferença entre o conjunto vazio (∅) e a linguagem {ε}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7315200" y="1188720"/>
            <a:ext cx="4160520" cy="457200"/>
          </a:xfrm>
          <a:prstGeom prst="rect">
            <a:avLst/>
          </a:prstGeom>
          <a:solidFill>
            <a:srgbClr val="CC9A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"/>
          <p:cNvSpPr/>
          <p:nvPr/>
        </p:nvSpPr>
        <p:spPr>
          <a:xfrm>
            <a:off x="7452360" y="1188720"/>
            <a:ext cx="3886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Arial"/>
              <a:buNone/>
            </a:pPr>
            <a:r>
              <a:rPr b="1" lang="en-US" sz="15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Nota de Transparência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7315200" y="1645920"/>
            <a:ext cx="4160520" cy="3154680"/>
          </a:xfrm>
          <a:prstGeom prst="rect">
            <a:avLst/>
          </a:prstGeom>
          <a:solidFill>
            <a:srgbClr val="FBF1DC"/>
          </a:solidFill>
          <a:ln cap="flat" cmpd="sng" w="12700">
            <a:solidFill>
              <a:srgbClr val="CC9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"/>
          <p:cNvSpPr/>
          <p:nvPr/>
        </p:nvSpPr>
        <p:spPr>
          <a:xfrm>
            <a:off x="7543800" y="1783080"/>
            <a:ext cx="3703320" cy="2880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O design deste material foi estruturado com apoio de Inteligência Artificial Generativa (Gemini / NotebookLM).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Esta versão foi revisada, corrigida e convertida para formato totalmente editável com apoio do Claude (Anthropic).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Curadoria pedagógica e validação de conteúdo: do professor, em conformidade com o Plano de Ensino.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98AC1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grid_light.png" id="39" name="Google Shape;3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320040"/>
            <a:ext cx="11551615" cy="621792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3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noFill/>
          <a:ln cap="flat" cmpd="sng" w="25400">
            <a:solidFill>
              <a:srgbClr val="398A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3"/>
          <p:cNvSpPr/>
          <p:nvPr/>
        </p:nvSpPr>
        <p:spPr>
          <a:xfrm>
            <a:off x="685800" y="502920"/>
            <a:ext cx="10789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B4D"/>
              </a:buClr>
              <a:buSzPts val="2600"/>
              <a:buFont typeface="Arial"/>
              <a:buNone/>
            </a:pPr>
            <a:r>
              <a:rPr b="1" lang="en-US" sz="2600">
                <a:solidFill>
                  <a:srgbClr val="1F3B4D"/>
                </a:solidFill>
                <a:latin typeface="Arial"/>
                <a:ea typeface="Arial"/>
                <a:cs typeface="Arial"/>
                <a:sym typeface="Arial"/>
              </a:rPr>
              <a:t>A Hierarquia Formal: De Símbolos a Universos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3"/>
          <p:cNvSpPr/>
          <p:nvPr/>
        </p:nvSpPr>
        <p:spPr>
          <a:xfrm>
            <a:off x="685800" y="1143000"/>
            <a:ext cx="10789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5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5B6B75"/>
                </a:solidFill>
                <a:latin typeface="Arial"/>
                <a:ea typeface="Arial"/>
                <a:cs typeface="Arial"/>
                <a:sym typeface="Arial"/>
              </a:rPr>
              <a:t>Toda a teoria da computação é construída sobre uma progressão matemática estrita.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3"/>
          <p:cNvSpPr/>
          <p:nvPr/>
        </p:nvSpPr>
        <p:spPr>
          <a:xfrm>
            <a:off x="822960" y="2057400"/>
            <a:ext cx="3017520" cy="2286000"/>
          </a:xfrm>
          <a:prstGeom prst="roundRect">
            <a:avLst>
              <a:gd fmla="val 4800" name="adj"/>
            </a:avLst>
          </a:prstGeom>
          <a:solidFill>
            <a:srgbClr val="DCE9F2"/>
          </a:solidFill>
          <a:ln cap="flat" cmpd="sng" w="19050">
            <a:solidFill>
              <a:srgbClr val="4A7F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3"/>
          <p:cNvSpPr/>
          <p:nvPr/>
        </p:nvSpPr>
        <p:spPr>
          <a:xfrm>
            <a:off x="822960" y="2240280"/>
            <a:ext cx="30175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B4D"/>
              </a:buClr>
              <a:buSzPts val="4400"/>
              <a:buFont typeface="Cambria"/>
              <a:buNone/>
            </a:pPr>
            <a:r>
              <a:rPr b="1" i="1" lang="en-US" sz="4400">
                <a:solidFill>
                  <a:srgbClr val="1F3B4D"/>
                </a:solidFill>
                <a:latin typeface="Cambria"/>
                <a:ea typeface="Cambria"/>
                <a:cs typeface="Cambria"/>
                <a:sym typeface="Cambria"/>
              </a:rPr>
              <a:t>Σ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3"/>
          <p:cNvSpPr/>
          <p:nvPr/>
        </p:nvSpPr>
        <p:spPr>
          <a:xfrm>
            <a:off x="960120" y="333756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B4D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1F3B4D"/>
                </a:solidFill>
                <a:latin typeface="Arial"/>
                <a:ea typeface="Arial"/>
                <a:cs typeface="Arial"/>
                <a:sym typeface="Arial"/>
              </a:rPr>
              <a:t>Símbolo: O Átomo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3"/>
          <p:cNvSpPr/>
          <p:nvPr/>
        </p:nvSpPr>
        <p:spPr>
          <a:xfrm>
            <a:off x="960120" y="374904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75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5B6B75"/>
                </a:solidFill>
                <a:latin typeface="Arial"/>
                <a:ea typeface="Arial"/>
                <a:cs typeface="Arial"/>
                <a:sym typeface="Arial"/>
              </a:rPr>
              <a:t>(A matéria-prima)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3"/>
          <p:cNvSpPr/>
          <p:nvPr/>
        </p:nvSpPr>
        <p:spPr>
          <a:xfrm rot="5400000">
            <a:off x="3977640" y="3017520"/>
            <a:ext cx="502920" cy="411480"/>
          </a:xfrm>
          <a:prstGeom prst="triangle">
            <a:avLst>
              <a:gd fmla="val 50000" name="adj"/>
            </a:avLst>
          </a:prstGeom>
          <a:solidFill>
            <a:srgbClr val="CC9A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3"/>
          <p:cNvSpPr/>
          <p:nvPr/>
        </p:nvSpPr>
        <p:spPr>
          <a:xfrm>
            <a:off x="4617720" y="2057400"/>
            <a:ext cx="3017520" cy="2286000"/>
          </a:xfrm>
          <a:prstGeom prst="roundRect">
            <a:avLst>
              <a:gd fmla="val 4800" name="adj"/>
            </a:avLst>
          </a:prstGeom>
          <a:solidFill>
            <a:srgbClr val="DCE9F2"/>
          </a:solidFill>
          <a:ln cap="flat" cmpd="sng" w="19050">
            <a:solidFill>
              <a:srgbClr val="4A7F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3"/>
          <p:cNvSpPr/>
          <p:nvPr/>
        </p:nvSpPr>
        <p:spPr>
          <a:xfrm>
            <a:off x="4617720" y="2240280"/>
            <a:ext cx="30175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B4D"/>
              </a:buClr>
              <a:buSzPts val="4400"/>
              <a:buFont typeface="Cambria"/>
              <a:buNone/>
            </a:pPr>
            <a:r>
              <a:rPr b="1" i="1" lang="en-US" sz="4400">
                <a:solidFill>
                  <a:srgbClr val="1F3B4D"/>
                </a:solidFill>
                <a:latin typeface="Cambria"/>
                <a:ea typeface="Cambria"/>
                <a:cs typeface="Cambria"/>
                <a:sym typeface="Cambria"/>
              </a:rPr>
              <a:t>w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4754880" y="333756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B4D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1F3B4D"/>
                </a:solidFill>
                <a:latin typeface="Arial"/>
                <a:ea typeface="Arial"/>
                <a:cs typeface="Arial"/>
                <a:sym typeface="Arial"/>
              </a:rPr>
              <a:t>Palavra: A Molécula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4754880" y="374904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75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5B6B75"/>
                </a:solidFill>
                <a:latin typeface="Arial"/>
                <a:ea typeface="Arial"/>
                <a:cs typeface="Arial"/>
                <a:sym typeface="Arial"/>
              </a:rPr>
              <a:t>(Estruturas finitas)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3"/>
          <p:cNvSpPr/>
          <p:nvPr/>
        </p:nvSpPr>
        <p:spPr>
          <a:xfrm rot="5400000">
            <a:off x="7772400" y="3017520"/>
            <a:ext cx="502920" cy="411480"/>
          </a:xfrm>
          <a:prstGeom prst="triangle">
            <a:avLst>
              <a:gd fmla="val 50000" name="adj"/>
            </a:avLst>
          </a:prstGeom>
          <a:solidFill>
            <a:srgbClr val="CC9A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3"/>
          <p:cNvSpPr/>
          <p:nvPr/>
        </p:nvSpPr>
        <p:spPr>
          <a:xfrm>
            <a:off x="8412480" y="2057400"/>
            <a:ext cx="3017520" cy="2286000"/>
          </a:xfrm>
          <a:prstGeom prst="roundRect">
            <a:avLst>
              <a:gd fmla="val 4800" name="adj"/>
            </a:avLst>
          </a:prstGeom>
          <a:solidFill>
            <a:srgbClr val="DCE9F2"/>
          </a:solidFill>
          <a:ln cap="flat" cmpd="sng" w="19050">
            <a:solidFill>
              <a:srgbClr val="4A7F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3"/>
          <p:cNvSpPr/>
          <p:nvPr/>
        </p:nvSpPr>
        <p:spPr>
          <a:xfrm>
            <a:off x="8412480" y="2240280"/>
            <a:ext cx="30175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B4D"/>
              </a:buClr>
              <a:buSzPts val="4400"/>
              <a:buFont typeface="Cambria"/>
              <a:buNone/>
            </a:pPr>
            <a:r>
              <a:rPr b="1" i="1" lang="en-US" sz="4400">
                <a:solidFill>
                  <a:srgbClr val="1F3B4D"/>
                </a:solidFill>
                <a:latin typeface="Cambria"/>
                <a:ea typeface="Cambria"/>
                <a:cs typeface="Cambria"/>
                <a:sym typeface="Cambria"/>
              </a:rPr>
              <a:t>L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8549640" y="333756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B4D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1F3B4D"/>
                </a:solidFill>
                <a:latin typeface="Arial"/>
                <a:ea typeface="Arial"/>
                <a:cs typeface="Arial"/>
                <a:sym typeface="Arial"/>
              </a:rPr>
              <a:t>Linguagem: A Matéria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8549640" y="374904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75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5B6B75"/>
                </a:solidFill>
                <a:latin typeface="Arial"/>
                <a:ea typeface="Arial"/>
                <a:cs typeface="Arial"/>
                <a:sym typeface="Arial"/>
              </a:rPr>
              <a:t>(Conjuntos infinitos)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98AC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grid_light.png" id="62" name="Google Shape;6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320040"/>
            <a:ext cx="11551615" cy="621792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4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noFill/>
          <a:ln cap="flat" cmpd="sng" w="25400">
            <a:solidFill>
              <a:srgbClr val="398A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4"/>
          <p:cNvSpPr/>
          <p:nvPr/>
        </p:nvSpPr>
        <p:spPr>
          <a:xfrm>
            <a:off x="685800" y="502920"/>
            <a:ext cx="10789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B4D"/>
              </a:buClr>
              <a:buSzPts val="2600"/>
              <a:buFont typeface="Arial"/>
              <a:buNone/>
            </a:pPr>
            <a:r>
              <a:rPr b="1" lang="en-US" sz="2600">
                <a:solidFill>
                  <a:srgbClr val="1F3B4D"/>
                </a:solidFill>
                <a:latin typeface="Arial"/>
                <a:ea typeface="Arial"/>
                <a:cs typeface="Arial"/>
                <a:sym typeface="Arial"/>
              </a:rPr>
              <a:t>Símbolos e Alfabetos (Σ) formam a base indivisível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685800" y="1143000"/>
            <a:ext cx="10789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5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5B6B75"/>
                </a:solidFill>
                <a:latin typeface="Arial"/>
                <a:ea typeface="Arial"/>
                <a:cs typeface="Arial"/>
                <a:sym typeface="Arial"/>
              </a:rPr>
              <a:t>Um alfabeto, denotado por Σ, é um conjunto finito e não vazio de símbolos. Os símbolos são as entidades abstratas básicas que servem de base para todas as definições subsequentes.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685800" y="1783080"/>
            <a:ext cx="5257800" cy="457200"/>
          </a:xfrm>
          <a:prstGeom prst="rect">
            <a:avLst/>
          </a:prstGeom>
          <a:solidFill>
            <a:srgbClr val="4A7F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4"/>
          <p:cNvSpPr/>
          <p:nvPr/>
        </p:nvSpPr>
        <p:spPr>
          <a:xfrm>
            <a:off x="822960" y="1783080"/>
            <a:ext cx="4983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Arial"/>
              <a:buNone/>
            </a:pPr>
            <a:r>
              <a:rPr b="1" lang="en-US" sz="15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Alfabetos Válidos (Finitos)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685800" y="2240280"/>
            <a:ext cx="5257800" cy="3154680"/>
          </a:xfrm>
          <a:prstGeom prst="rect">
            <a:avLst/>
          </a:prstGeom>
          <a:solidFill>
            <a:srgbClr val="DCE9F2"/>
          </a:solidFill>
          <a:ln cap="flat" cmpd="sng" w="12700">
            <a:solidFill>
              <a:srgbClr val="4A7F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4"/>
          <p:cNvSpPr/>
          <p:nvPr/>
        </p:nvSpPr>
        <p:spPr>
          <a:xfrm>
            <a:off x="914400" y="2377440"/>
            <a:ext cx="4800600" cy="2880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Σ_binário = {0, 1}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Σ_letras = {a, b, c}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Σ_Pascal = Letras ∪ Dígitos ∪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Operadores {+, -, *, /}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∪ Caracteres Especiais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6172200" y="1783080"/>
            <a:ext cx="5257800" cy="457200"/>
          </a:xfrm>
          <a:prstGeom prst="rect">
            <a:avLst/>
          </a:prstGeom>
          <a:solidFill>
            <a:srgbClr val="CC9A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4"/>
          <p:cNvSpPr/>
          <p:nvPr/>
        </p:nvSpPr>
        <p:spPr>
          <a:xfrm>
            <a:off x="6309360" y="1783080"/>
            <a:ext cx="4983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Arial"/>
              <a:buNone/>
            </a:pPr>
            <a:r>
              <a:rPr b="1" lang="en-US" sz="15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Contraexemplos (Inválidos)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6172200" y="2240280"/>
            <a:ext cx="5257800" cy="3154680"/>
          </a:xfrm>
          <a:prstGeom prst="rect">
            <a:avLst/>
          </a:prstGeom>
          <a:solidFill>
            <a:srgbClr val="FBF1DC"/>
          </a:solidFill>
          <a:ln cap="flat" cmpd="sng" w="12700">
            <a:solidFill>
              <a:srgbClr val="CC9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4"/>
          <p:cNvSpPr/>
          <p:nvPr/>
        </p:nvSpPr>
        <p:spPr>
          <a:xfrm>
            <a:off x="6400800" y="2377440"/>
            <a:ext cx="4800600" cy="2880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⚠  O conjunto dos Números Naturais (ℕ) não é um alfabeto, pois é infinito.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⚠  O conjunto Vazio (∅) não pode ser um alfabeto.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98AC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grid_light.png" id="79" name="Google Shape;7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320040"/>
            <a:ext cx="11551615" cy="621792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5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noFill/>
          <a:ln cap="flat" cmpd="sng" w="25400">
            <a:solidFill>
              <a:srgbClr val="398A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5"/>
          <p:cNvSpPr/>
          <p:nvPr/>
        </p:nvSpPr>
        <p:spPr>
          <a:xfrm>
            <a:off x="685800" y="502920"/>
            <a:ext cx="10789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B4D"/>
              </a:buClr>
              <a:buSzPts val="2600"/>
              <a:buFont typeface="Arial"/>
              <a:buNone/>
            </a:pPr>
            <a:r>
              <a:rPr b="1" lang="en-US" sz="2600">
                <a:solidFill>
                  <a:srgbClr val="1F3B4D"/>
                </a:solidFill>
                <a:latin typeface="Arial"/>
                <a:ea typeface="Arial"/>
                <a:cs typeface="Arial"/>
                <a:sym typeface="Arial"/>
              </a:rPr>
              <a:t>Palavras (w) e o domínio do Comprimento (|w|)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685800" y="1143000"/>
            <a:ext cx="10789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5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5B6B75"/>
                </a:solidFill>
                <a:latin typeface="Arial"/>
                <a:ea typeface="Arial"/>
                <a:cs typeface="Arial"/>
                <a:sym typeface="Arial"/>
              </a:rPr>
              <a:t>Uma palavra (ou cadeia) sobre um alfabeto é uma sequência finita de símbolos justapostos. A função comprimento, denotada por |w|, conta o número de símbolos. Domínio em Σ*, codomínio em ℕ.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685800" y="2011680"/>
            <a:ext cx="5212080" cy="1371600"/>
          </a:xfrm>
          <a:prstGeom prst="rect">
            <a:avLst/>
          </a:prstGeom>
          <a:solidFill>
            <a:srgbClr val="F4F8FB"/>
          </a:solidFill>
          <a:ln cap="flat" cmpd="sng" w="19050">
            <a:solidFill>
              <a:srgbClr val="4A7F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5"/>
          <p:cNvSpPr/>
          <p:nvPr/>
        </p:nvSpPr>
        <p:spPr>
          <a:xfrm>
            <a:off x="685800" y="2011680"/>
            <a:ext cx="521208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B4D"/>
              </a:buClr>
              <a:buSzPts val="3200"/>
              <a:buFont typeface="Consolas"/>
              <a:buNone/>
            </a:pPr>
            <a:r>
              <a:rPr b="1" lang="en-US" sz="3200">
                <a:solidFill>
                  <a:srgbClr val="1F3B4D"/>
                </a:solidFill>
                <a:latin typeface="Consolas"/>
                <a:ea typeface="Consolas"/>
                <a:cs typeface="Consolas"/>
                <a:sym typeface="Consolas"/>
              </a:rPr>
              <a:t>| abcb |  =  4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6172200" y="1783080"/>
            <a:ext cx="5257800" cy="457200"/>
          </a:xfrm>
          <a:prstGeom prst="rect">
            <a:avLst/>
          </a:prstGeom>
          <a:solidFill>
            <a:srgbClr val="CC9A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5"/>
          <p:cNvSpPr/>
          <p:nvPr/>
        </p:nvSpPr>
        <p:spPr>
          <a:xfrm>
            <a:off x="6309360" y="1783080"/>
            <a:ext cx="4983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Arial"/>
              <a:buNone/>
            </a:pPr>
            <a:r>
              <a:rPr b="1" lang="en-US" sz="15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Introduzindo a Cadeia Vazia: ε (Epsilon)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6172200" y="2240280"/>
            <a:ext cx="5257800" cy="3154680"/>
          </a:xfrm>
          <a:prstGeom prst="rect">
            <a:avLst/>
          </a:prstGeom>
          <a:solidFill>
            <a:srgbClr val="FBF1DC"/>
          </a:solidFill>
          <a:ln cap="flat" cmpd="sng" w="12700">
            <a:solidFill>
              <a:srgbClr val="CC9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5"/>
          <p:cNvSpPr/>
          <p:nvPr/>
        </p:nvSpPr>
        <p:spPr>
          <a:xfrm>
            <a:off x="6400800" y="2377440"/>
            <a:ext cx="4800600" cy="2880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50"/>
              <a:buFont typeface="Arial"/>
              <a:buNone/>
            </a:pPr>
            <a:r>
              <a:rPr lang="en-US" sz="14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É uma cadeia sem símbolos. Pense nela como o “zero” da adição ou a string vazia "" na programação.</a:t>
            </a:r>
            <a:br>
              <a:rPr lang="en-US" sz="14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14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</a:b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6720840" y="3931920"/>
            <a:ext cx="4160520" cy="1005840"/>
          </a:xfrm>
          <a:prstGeom prst="rect">
            <a:avLst/>
          </a:prstGeom>
          <a:solidFill>
            <a:srgbClr val="F4F8FB"/>
          </a:solidFill>
          <a:ln cap="flat" cmpd="sng" w="19050">
            <a:solidFill>
              <a:srgbClr val="4A7F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5"/>
          <p:cNvSpPr/>
          <p:nvPr/>
        </p:nvSpPr>
        <p:spPr>
          <a:xfrm>
            <a:off x="6720840" y="3931920"/>
            <a:ext cx="41605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B4D"/>
              </a:buClr>
              <a:buSzPts val="2600"/>
              <a:buFont typeface="Consolas"/>
              <a:buNone/>
            </a:pPr>
            <a:r>
              <a:rPr b="1" lang="en-US" sz="2600">
                <a:solidFill>
                  <a:srgbClr val="1F3B4D"/>
                </a:solidFill>
                <a:latin typeface="Consolas"/>
                <a:ea typeface="Consolas"/>
                <a:cs typeface="Consolas"/>
                <a:sym typeface="Consolas"/>
              </a:rPr>
              <a:t>| ε |  =  0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98AC1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grid_light.png" id="96" name="Google Shape;9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320040"/>
            <a:ext cx="11551615" cy="621792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6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noFill/>
          <a:ln cap="flat" cmpd="sng" w="25400">
            <a:solidFill>
              <a:srgbClr val="398A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6"/>
          <p:cNvSpPr/>
          <p:nvPr/>
        </p:nvSpPr>
        <p:spPr>
          <a:xfrm>
            <a:off x="685800" y="502920"/>
            <a:ext cx="10789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B4D"/>
              </a:buClr>
              <a:buSzPts val="2600"/>
              <a:buFont typeface="Arial"/>
              <a:buNone/>
            </a:pPr>
            <a:r>
              <a:rPr b="1" lang="en-US" sz="2600">
                <a:solidFill>
                  <a:srgbClr val="1F3B4D"/>
                </a:solidFill>
                <a:latin typeface="Arial"/>
                <a:ea typeface="Arial"/>
                <a:cs typeface="Arial"/>
                <a:sym typeface="Arial"/>
              </a:rPr>
              <a:t>Dissecando a anatomia de uma palavra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685800" y="1143000"/>
            <a:ext cx="10789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5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5B6B75"/>
                </a:solidFill>
                <a:latin typeface="Arial"/>
                <a:ea typeface="Arial"/>
                <a:cs typeface="Arial"/>
                <a:sym typeface="Arial"/>
              </a:rPr>
              <a:t>Qualquer prefixo ou sufixo também é considerado uma subpalavra. A palavra vazia (ε) e a própria palavra são sempre prefixos e sufixos válidos.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4206240" y="2788920"/>
            <a:ext cx="960120" cy="914400"/>
          </a:xfrm>
          <a:prstGeom prst="rect">
            <a:avLst/>
          </a:prstGeom>
          <a:solidFill>
            <a:srgbClr val="4A7FA6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6"/>
          <p:cNvSpPr/>
          <p:nvPr/>
        </p:nvSpPr>
        <p:spPr>
          <a:xfrm>
            <a:off x="4206240" y="2788920"/>
            <a:ext cx="960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onsolas"/>
              <a:buNone/>
            </a:pPr>
            <a:r>
              <a:rPr b="1" lang="en-US" sz="3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5166360" y="2788920"/>
            <a:ext cx="960120" cy="914400"/>
          </a:xfrm>
          <a:prstGeom prst="rect">
            <a:avLst/>
          </a:prstGeom>
          <a:solidFill>
            <a:srgbClr val="4A7FA6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6"/>
          <p:cNvSpPr/>
          <p:nvPr/>
        </p:nvSpPr>
        <p:spPr>
          <a:xfrm>
            <a:off x="5166360" y="2788920"/>
            <a:ext cx="960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onsolas"/>
              <a:buNone/>
            </a:pPr>
            <a:r>
              <a:rPr b="1" lang="en-US" sz="3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b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6126480" y="2788920"/>
            <a:ext cx="960120" cy="914400"/>
          </a:xfrm>
          <a:prstGeom prst="rect">
            <a:avLst/>
          </a:prstGeom>
          <a:solidFill>
            <a:srgbClr val="4A7FA6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6"/>
          <p:cNvSpPr/>
          <p:nvPr/>
        </p:nvSpPr>
        <p:spPr>
          <a:xfrm>
            <a:off x="6126480" y="2788920"/>
            <a:ext cx="960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onsolas"/>
              <a:buNone/>
            </a:pPr>
            <a:r>
              <a:rPr b="1" lang="en-US" sz="3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7086600" y="2788920"/>
            <a:ext cx="960120" cy="914400"/>
          </a:xfrm>
          <a:prstGeom prst="rect">
            <a:avLst/>
          </a:prstGeom>
          <a:solidFill>
            <a:srgbClr val="4A7FA6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"/>
          <p:cNvSpPr/>
          <p:nvPr/>
        </p:nvSpPr>
        <p:spPr>
          <a:xfrm>
            <a:off x="7086600" y="2788920"/>
            <a:ext cx="960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onsolas"/>
              <a:buNone/>
            </a:pPr>
            <a:r>
              <a:rPr b="1" lang="en-US" sz="3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b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685800" y="1783080"/>
            <a:ext cx="3246120" cy="457200"/>
          </a:xfrm>
          <a:prstGeom prst="rect">
            <a:avLst/>
          </a:prstGeom>
          <a:solidFill>
            <a:srgbClr val="4A7F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6"/>
          <p:cNvSpPr/>
          <p:nvPr/>
        </p:nvSpPr>
        <p:spPr>
          <a:xfrm>
            <a:off x="822960" y="178308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Arial"/>
              <a:buNone/>
            </a:pPr>
            <a:r>
              <a:rPr b="1" lang="en-US" sz="15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Prefixos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685800" y="2240280"/>
            <a:ext cx="3246120" cy="3154680"/>
          </a:xfrm>
          <a:prstGeom prst="rect">
            <a:avLst/>
          </a:prstGeom>
          <a:solidFill>
            <a:srgbClr val="DCE9F2"/>
          </a:solidFill>
          <a:ln cap="flat" cmpd="sng" w="12700">
            <a:solidFill>
              <a:srgbClr val="4A7F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6"/>
          <p:cNvSpPr/>
          <p:nvPr/>
        </p:nvSpPr>
        <p:spPr>
          <a:xfrm>
            <a:off x="914400" y="2377440"/>
            <a:ext cx="2788920" cy="2880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50"/>
              <a:buFont typeface="Arial"/>
              <a:buNone/>
            </a:pPr>
            <a:r>
              <a:rPr lang="en-US" sz="14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ε  (vazio)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Font typeface="Calibri"/>
              <a:buNone/>
            </a:pPr>
            <a:r>
              <a:t/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50"/>
              <a:buFont typeface="Arial"/>
              <a:buNone/>
            </a:pPr>
            <a:r>
              <a:rPr lang="en-US" sz="14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Font typeface="Calibri"/>
              <a:buNone/>
            </a:pPr>
            <a:r>
              <a:t/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50"/>
              <a:buFont typeface="Arial"/>
              <a:buNone/>
            </a:pPr>
            <a:r>
              <a:rPr lang="en-US" sz="14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ab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Font typeface="Calibri"/>
              <a:buNone/>
            </a:pPr>
            <a:r>
              <a:t/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50"/>
              <a:buFont typeface="Arial"/>
              <a:buNone/>
            </a:pPr>
            <a:r>
              <a:rPr lang="en-US" sz="14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abc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Font typeface="Calibri"/>
              <a:buNone/>
            </a:pPr>
            <a:r>
              <a:t/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50"/>
              <a:buFont typeface="Arial"/>
              <a:buNone/>
            </a:pPr>
            <a:r>
              <a:rPr lang="en-US" sz="14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abcb  (a própria palavra)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8275320" y="1783080"/>
            <a:ext cx="3246120" cy="457200"/>
          </a:xfrm>
          <a:prstGeom prst="rect">
            <a:avLst/>
          </a:prstGeom>
          <a:solidFill>
            <a:srgbClr val="B050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6"/>
          <p:cNvSpPr/>
          <p:nvPr/>
        </p:nvSpPr>
        <p:spPr>
          <a:xfrm>
            <a:off x="8412480" y="178308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Arial"/>
              <a:buNone/>
            </a:pPr>
            <a:r>
              <a:rPr b="1" lang="en-US" sz="15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Sufixos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8275320" y="2240280"/>
            <a:ext cx="3246120" cy="3154680"/>
          </a:xfrm>
          <a:prstGeom prst="rect">
            <a:avLst/>
          </a:prstGeom>
          <a:solidFill>
            <a:srgbClr val="F7E4E3"/>
          </a:solidFill>
          <a:ln cap="flat" cmpd="sng" w="12700">
            <a:solidFill>
              <a:srgbClr val="B050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6"/>
          <p:cNvSpPr/>
          <p:nvPr/>
        </p:nvSpPr>
        <p:spPr>
          <a:xfrm>
            <a:off x="8503920" y="2377440"/>
            <a:ext cx="2788920" cy="2880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50"/>
              <a:buFont typeface="Arial"/>
              <a:buNone/>
            </a:pPr>
            <a:r>
              <a:rPr lang="en-US" sz="14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ε  (vazio)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Font typeface="Calibri"/>
              <a:buNone/>
            </a:pPr>
            <a:r>
              <a:t/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50"/>
              <a:buFont typeface="Arial"/>
              <a:buNone/>
            </a:pPr>
            <a:r>
              <a:rPr lang="en-US" sz="14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Font typeface="Calibri"/>
              <a:buNone/>
            </a:pPr>
            <a:r>
              <a:t/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50"/>
              <a:buFont typeface="Arial"/>
              <a:buNone/>
            </a:pPr>
            <a:r>
              <a:rPr lang="en-US" sz="14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cb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Font typeface="Calibri"/>
              <a:buNone/>
            </a:pPr>
            <a:r>
              <a:t/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50"/>
              <a:buFont typeface="Arial"/>
              <a:buNone/>
            </a:pPr>
            <a:r>
              <a:rPr lang="en-US" sz="14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bcb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Font typeface="Calibri"/>
              <a:buNone/>
            </a:pPr>
            <a:r>
              <a:t/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50"/>
              <a:buFont typeface="Arial"/>
              <a:buNone/>
            </a:pPr>
            <a:r>
              <a:rPr lang="en-US" sz="14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abcb  (a própria palavra)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4206240" y="384048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75"/>
              </a:buClr>
              <a:buSzPts val="1300"/>
              <a:buFont typeface="Arial"/>
              <a:buNone/>
            </a:pPr>
            <a:r>
              <a:rPr i="1" lang="en-US" sz="1300">
                <a:solidFill>
                  <a:srgbClr val="5B6B75"/>
                </a:solidFill>
                <a:latin typeface="Arial"/>
                <a:ea typeface="Arial"/>
                <a:cs typeface="Arial"/>
                <a:sym typeface="Arial"/>
              </a:rPr>
              <a:t>Palavra: abcb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98AC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grid_light.png" id="122" name="Google Shape;12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320040"/>
            <a:ext cx="11551615" cy="621792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7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noFill/>
          <a:ln cap="flat" cmpd="sng" w="25400">
            <a:solidFill>
              <a:srgbClr val="398A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7"/>
          <p:cNvSpPr/>
          <p:nvPr/>
        </p:nvSpPr>
        <p:spPr>
          <a:xfrm>
            <a:off x="685800" y="502920"/>
            <a:ext cx="10789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B4D"/>
              </a:buClr>
              <a:buSzPts val="2600"/>
              <a:buFont typeface="Arial"/>
              <a:buNone/>
            </a:pPr>
            <a:r>
              <a:rPr b="1" lang="en-US" sz="2600">
                <a:solidFill>
                  <a:srgbClr val="1F3B4D"/>
                </a:solidFill>
                <a:latin typeface="Arial"/>
                <a:ea typeface="Arial"/>
                <a:cs typeface="Arial"/>
                <a:sym typeface="Arial"/>
              </a:rPr>
              <a:t>A matemática das cadeias: Concatenação e Potência (wⁿ)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685800" y="1143000"/>
            <a:ext cx="10789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5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5B6B75"/>
                </a:solidFill>
                <a:latin typeface="Arial"/>
                <a:ea typeface="Arial"/>
                <a:cs typeface="Arial"/>
                <a:sym typeface="Arial"/>
              </a:rPr>
              <a:t>A concatenação sucessiva de uma palavra com ela mesma é representada pela potência n, definida indutivamente: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1737360" y="1965960"/>
            <a:ext cx="8686800" cy="1051560"/>
          </a:xfrm>
          <a:prstGeom prst="rect">
            <a:avLst/>
          </a:prstGeom>
          <a:solidFill>
            <a:srgbClr val="F4F8FB"/>
          </a:solidFill>
          <a:ln cap="flat" cmpd="sng" w="19050">
            <a:solidFill>
              <a:srgbClr val="4A7F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7"/>
          <p:cNvSpPr/>
          <p:nvPr/>
        </p:nvSpPr>
        <p:spPr>
          <a:xfrm>
            <a:off x="1737360" y="1965960"/>
            <a:ext cx="86868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B4D"/>
              </a:buClr>
              <a:buSzPts val="1800"/>
              <a:buFont typeface="Consolas"/>
              <a:buNone/>
            </a:pPr>
            <a:r>
              <a:rPr b="1" lang="en-US" sz="1800">
                <a:solidFill>
                  <a:srgbClr val="1F3B4D"/>
                </a:solidFill>
                <a:latin typeface="Consolas"/>
                <a:ea typeface="Consolas"/>
                <a:cs typeface="Consolas"/>
                <a:sym typeface="Consolas"/>
              </a:rPr>
              <a:t>Base: w⁰ = ε      Indução: wⁿ = w · wⁿ⁻¹  (n &gt; 0)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822960" y="3383280"/>
            <a:ext cx="2331720" cy="777240"/>
          </a:xfrm>
          <a:prstGeom prst="rect">
            <a:avLst/>
          </a:prstGeom>
          <a:solidFill>
            <a:srgbClr val="DCE9F2"/>
          </a:solidFill>
          <a:ln cap="flat" cmpd="sng" w="15875">
            <a:solidFill>
              <a:srgbClr val="4A7F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7"/>
          <p:cNvSpPr/>
          <p:nvPr/>
        </p:nvSpPr>
        <p:spPr>
          <a:xfrm>
            <a:off x="822960" y="3383280"/>
            <a:ext cx="23317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B4D"/>
              </a:buClr>
              <a:buSzPts val="1700"/>
              <a:buFont typeface="Consolas"/>
              <a:buNone/>
            </a:pPr>
            <a:r>
              <a:rPr b="1" lang="en-US" sz="1700">
                <a:solidFill>
                  <a:srgbClr val="1F3B4D"/>
                </a:solidFill>
                <a:latin typeface="Consolas"/>
                <a:ea typeface="Consolas"/>
                <a:cs typeface="Consolas"/>
                <a:sym typeface="Consolas"/>
              </a:rPr>
              <a:t>a¹ = a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3383280" y="3383280"/>
            <a:ext cx="2331720" cy="777240"/>
          </a:xfrm>
          <a:prstGeom prst="rect">
            <a:avLst/>
          </a:prstGeom>
          <a:solidFill>
            <a:srgbClr val="DCE9F2"/>
          </a:solidFill>
          <a:ln cap="flat" cmpd="sng" w="15875">
            <a:solidFill>
              <a:srgbClr val="4A7F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7"/>
          <p:cNvSpPr/>
          <p:nvPr/>
        </p:nvSpPr>
        <p:spPr>
          <a:xfrm>
            <a:off x="3383280" y="3383280"/>
            <a:ext cx="23317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B4D"/>
              </a:buClr>
              <a:buSzPts val="1700"/>
              <a:buFont typeface="Consolas"/>
              <a:buNone/>
            </a:pPr>
            <a:r>
              <a:rPr b="1" lang="en-US" sz="1700">
                <a:solidFill>
                  <a:srgbClr val="1F3B4D"/>
                </a:solidFill>
                <a:latin typeface="Consolas"/>
                <a:ea typeface="Consolas"/>
                <a:cs typeface="Consolas"/>
                <a:sym typeface="Consolas"/>
              </a:rPr>
              <a:t>a² = aa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5943600" y="3383280"/>
            <a:ext cx="2331720" cy="777240"/>
          </a:xfrm>
          <a:prstGeom prst="rect">
            <a:avLst/>
          </a:prstGeom>
          <a:solidFill>
            <a:srgbClr val="DCE9F2"/>
          </a:solidFill>
          <a:ln cap="flat" cmpd="sng" w="15875">
            <a:solidFill>
              <a:srgbClr val="4A7F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7"/>
          <p:cNvSpPr/>
          <p:nvPr/>
        </p:nvSpPr>
        <p:spPr>
          <a:xfrm>
            <a:off x="5943600" y="3383280"/>
            <a:ext cx="23317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B4D"/>
              </a:buClr>
              <a:buSzPts val="1700"/>
              <a:buFont typeface="Consolas"/>
              <a:buNone/>
            </a:pPr>
            <a:r>
              <a:rPr b="1" lang="en-US" sz="1700">
                <a:solidFill>
                  <a:srgbClr val="1F3B4D"/>
                </a:solidFill>
                <a:latin typeface="Consolas"/>
                <a:ea typeface="Consolas"/>
                <a:cs typeface="Consolas"/>
                <a:sym typeface="Consolas"/>
              </a:rPr>
              <a:t>a³ = aaa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8503920" y="3383280"/>
            <a:ext cx="2331720" cy="777240"/>
          </a:xfrm>
          <a:prstGeom prst="rect">
            <a:avLst/>
          </a:prstGeom>
          <a:solidFill>
            <a:srgbClr val="DCE9F2"/>
          </a:solidFill>
          <a:ln cap="flat" cmpd="sng" w="15875">
            <a:solidFill>
              <a:srgbClr val="4A7F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7"/>
          <p:cNvSpPr/>
          <p:nvPr/>
        </p:nvSpPr>
        <p:spPr>
          <a:xfrm>
            <a:off x="8503920" y="3383280"/>
            <a:ext cx="23317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B4D"/>
              </a:buClr>
              <a:buSzPts val="1700"/>
              <a:buFont typeface="Consolas"/>
              <a:buNone/>
            </a:pPr>
            <a:r>
              <a:rPr b="1" lang="en-US" sz="1700">
                <a:solidFill>
                  <a:srgbClr val="1F3B4D"/>
                </a:solidFill>
                <a:latin typeface="Consolas"/>
                <a:ea typeface="Consolas"/>
                <a:cs typeface="Consolas"/>
                <a:sym typeface="Consolas"/>
              </a:rPr>
              <a:t>a⁵ = aaaaa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822960" y="4389120"/>
            <a:ext cx="10332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5"/>
              </a:buClr>
              <a:buSzPts val="1300"/>
              <a:buFont typeface="Arial"/>
              <a:buNone/>
            </a:pPr>
            <a:r>
              <a:rPr i="1" lang="en-US" sz="1300">
                <a:solidFill>
                  <a:srgbClr val="5B6B75"/>
                </a:solidFill>
                <a:latin typeface="Arial"/>
                <a:ea typeface="Arial"/>
                <a:cs typeface="Arial"/>
                <a:sym typeface="Arial"/>
              </a:rPr>
              <a:t>A potência cresce sempre concatenando mais uma cópia da palavra original — o padrão indutivo se mantém para qualquer n.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98AC1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grid_light.png" id="142" name="Google Shape;14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320040"/>
            <a:ext cx="11551615" cy="621792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8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noFill/>
          <a:ln cap="flat" cmpd="sng" w="25400">
            <a:solidFill>
              <a:srgbClr val="398A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8"/>
          <p:cNvSpPr/>
          <p:nvPr/>
        </p:nvSpPr>
        <p:spPr>
          <a:xfrm>
            <a:off x="685800" y="502920"/>
            <a:ext cx="10789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B4D"/>
              </a:buClr>
              <a:buSzPts val="2600"/>
              <a:buFont typeface="Arial"/>
              <a:buNone/>
            </a:pPr>
            <a:r>
              <a:rPr b="1" lang="en-US" sz="2600">
                <a:solidFill>
                  <a:srgbClr val="1F3B4D"/>
                </a:solidFill>
                <a:latin typeface="Arial"/>
                <a:ea typeface="Arial"/>
                <a:cs typeface="Arial"/>
                <a:sym typeface="Arial"/>
              </a:rPr>
              <a:t>A Matéria: O que define uma Linguagem Formal (L)?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8"/>
          <p:cNvSpPr/>
          <p:nvPr/>
        </p:nvSpPr>
        <p:spPr>
          <a:xfrm>
            <a:off x="685800" y="1143000"/>
            <a:ext cx="10789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5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5B6B75"/>
                </a:solidFill>
                <a:latin typeface="Arial"/>
                <a:ea typeface="Arial"/>
                <a:cs typeface="Arial"/>
                <a:sym typeface="Arial"/>
              </a:rPr>
              <a:t>Uma Linguagem Formal L é simplesmente um subconjunto do universo de todas as palavras possíveis formadas por um alfabeto Σ. Formalmente: L ⊆ Σ*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8"/>
          <p:cNvSpPr/>
          <p:nvPr/>
        </p:nvSpPr>
        <p:spPr>
          <a:xfrm>
            <a:off x="685800" y="1783080"/>
            <a:ext cx="5029200" cy="457200"/>
          </a:xfrm>
          <a:prstGeom prst="rect">
            <a:avLst/>
          </a:prstGeom>
          <a:solidFill>
            <a:srgbClr val="4A7F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8"/>
          <p:cNvSpPr/>
          <p:nvPr/>
        </p:nvSpPr>
        <p:spPr>
          <a:xfrm>
            <a:off x="822960" y="178308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Arial"/>
              <a:buNone/>
            </a:pPr>
            <a:r>
              <a:rPr b="1" lang="en-US" sz="15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Definições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8"/>
          <p:cNvSpPr/>
          <p:nvPr/>
        </p:nvSpPr>
        <p:spPr>
          <a:xfrm>
            <a:off x="685800" y="2240280"/>
            <a:ext cx="5029200" cy="3154680"/>
          </a:xfrm>
          <a:prstGeom prst="rect">
            <a:avLst/>
          </a:prstGeom>
          <a:solidFill>
            <a:srgbClr val="DCE9F2"/>
          </a:solidFill>
          <a:ln cap="flat" cmpd="sng" w="12700">
            <a:solidFill>
              <a:srgbClr val="4A7F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8"/>
          <p:cNvSpPr/>
          <p:nvPr/>
        </p:nvSpPr>
        <p:spPr>
          <a:xfrm>
            <a:off x="914400" y="2377440"/>
            <a:ext cx="4572000" cy="2880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Σ* (Fecho de Kleene): o conjunto de TODAS as palavras possíveis, incluindo ε.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libri"/>
              <a:buNone/>
            </a:pPr>
            <a:r>
              <a:t/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Σ⁺ (Fecho Positivo): Σ* - {ε}. Todas as palavras, exceto a vazia.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libri"/>
              <a:buNone/>
            </a:pPr>
            <a:r>
              <a:t/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Exemplo prático: um programa válido em C é uma única palavra (longa) pertencente ao conjunto infinito “Linguagem C”.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8"/>
          <p:cNvSpPr/>
          <p:nvPr/>
        </p:nvSpPr>
        <p:spPr>
          <a:xfrm>
            <a:off x="7178040" y="1965960"/>
            <a:ext cx="3749040" cy="3200400"/>
          </a:xfrm>
          <a:prstGeom prst="ellipse">
            <a:avLst/>
          </a:prstGeom>
          <a:noFill/>
          <a:ln cap="flat" cmpd="sng" w="22225">
            <a:solidFill>
              <a:srgbClr val="4A7F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8"/>
          <p:cNvSpPr/>
          <p:nvPr/>
        </p:nvSpPr>
        <p:spPr>
          <a:xfrm>
            <a:off x="7680960" y="2377440"/>
            <a:ext cx="2743200" cy="2377440"/>
          </a:xfrm>
          <a:prstGeom prst="ellipse">
            <a:avLst/>
          </a:prstGeom>
          <a:noFill/>
          <a:ln cap="flat" cmpd="sng" w="22225">
            <a:solidFill>
              <a:srgbClr val="CC9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8"/>
          <p:cNvSpPr/>
          <p:nvPr/>
        </p:nvSpPr>
        <p:spPr>
          <a:xfrm>
            <a:off x="8275320" y="3063240"/>
            <a:ext cx="1554480" cy="1005840"/>
          </a:xfrm>
          <a:prstGeom prst="ellipse">
            <a:avLst/>
          </a:prstGeom>
          <a:solidFill>
            <a:srgbClr val="B0504D">
              <a:alpha val="45098"/>
            </a:srgbClr>
          </a:solidFill>
          <a:ln cap="flat" cmpd="sng" w="19050">
            <a:solidFill>
              <a:srgbClr val="B050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8"/>
          <p:cNvSpPr/>
          <p:nvPr/>
        </p:nvSpPr>
        <p:spPr>
          <a:xfrm>
            <a:off x="8686800" y="3246120"/>
            <a:ext cx="731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B4D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1F3B4D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7223760" y="20116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B4D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1F3B4D"/>
                </a:solidFill>
                <a:latin typeface="Arial"/>
                <a:ea typeface="Arial"/>
                <a:cs typeface="Arial"/>
                <a:sym typeface="Arial"/>
              </a:rPr>
              <a:t>Σ*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8"/>
          <p:cNvSpPr/>
          <p:nvPr/>
        </p:nvSpPr>
        <p:spPr>
          <a:xfrm>
            <a:off x="7726680" y="242316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B4D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1F3B4D"/>
                </a:solidFill>
                <a:latin typeface="Arial"/>
                <a:ea typeface="Arial"/>
                <a:cs typeface="Arial"/>
                <a:sym typeface="Arial"/>
              </a:rPr>
              <a:t>Σ⁺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8"/>
          <p:cNvSpPr/>
          <p:nvPr/>
        </p:nvSpPr>
        <p:spPr>
          <a:xfrm>
            <a:off x="6903720" y="3611880"/>
            <a:ext cx="91440" cy="91440"/>
          </a:xfrm>
          <a:prstGeom prst="ellipse">
            <a:avLst/>
          </a:prstGeom>
          <a:solidFill>
            <a:srgbClr val="1F3B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8"/>
          <p:cNvSpPr/>
          <p:nvPr/>
        </p:nvSpPr>
        <p:spPr>
          <a:xfrm>
            <a:off x="6720840" y="370332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B4D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F3B4D"/>
                </a:solidFill>
                <a:latin typeface="Arial"/>
                <a:ea typeface="Arial"/>
                <a:cs typeface="Arial"/>
                <a:sym typeface="Arial"/>
              </a:rPr>
              <a:t>ε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98AC1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grid_dark.png" id="163" name="Google Shape;16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320040"/>
            <a:ext cx="11551615" cy="621792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9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noFill/>
          <a:ln cap="flat" cmpd="sng" w="25400">
            <a:solidFill>
              <a:srgbClr val="398A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9"/>
          <p:cNvSpPr/>
          <p:nvPr/>
        </p:nvSpPr>
        <p:spPr>
          <a:xfrm>
            <a:off x="685800" y="502920"/>
            <a:ext cx="10789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CBEA"/>
              </a:buClr>
              <a:buSzPts val="2600"/>
              <a:buFont typeface="Arial"/>
              <a:buNone/>
            </a:pPr>
            <a:r>
              <a:rPr b="1" lang="en-US" sz="2600">
                <a:solidFill>
                  <a:srgbClr val="7FCBEA"/>
                </a:solidFill>
                <a:latin typeface="Arial"/>
                <a:ea typeface="Arial"/>
                <a:cs typeface="Arial"/>
                <a:sym typeface="Arial"/>
              </a:rPr>
              <a:t>Operações Clássicas: Manipulando conjuntos de palavras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9"/>
          <p:cNvSpPr/>
          <p:nvPr/>
        </p:nvSpPr>
        <p:spPr>
          <a:xfrm>
            <a:off x="685800" y="1143000"/>
            <a:ext cx="10789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3F8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EAF3F8"/>
                </a:solidFill>
                <a:latin typeface="Arial"/>
                <a:ea typeface="Arial"/>
                <a:cs typeface="Arial"/>
                <a:sym typeface="Arial"/>
              </a:rPr>
              <a:t>Como linguagens formais são conjuntos matemáticos, a Classe das Linguagens Regulares é fechada para as operações fundamentais da teoria dos conjuntos.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9"/>
          <p:cNvSpPr/>
          <p:nvPr/>
        </p:nvSpPr>
        <p:spPr>
          <a:xfrm>
            <a:off x="1645920" y="2011680"/>
            <a:ext cx="1463040" cy="1463040"/>
          </a:xfrm>
          <a:prstGeom prst="ellipse">
            <a:avLst/>
          </a:prstGeom>
          <a:solidFill>
            <a:srgbClr val="5BB8E0">
              <a:alpha val="45098"/>
            </a:srgbClr>
          </a:solidFill>
          <a:ln cap="flat" cmpd="sng" w="22225">
            <a:solidFill>
              <a:srgbClr val="5BB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9"/>
          <p:cNvSpPr/>
          <p:nvPr/>
        </p:nvSpPr>
        <p:spPr>
          <a:xfrm>
            <a:off x="2706624" y="2011680"/>
            <a:ext cx="1463040" cy="1463040"/>
          </a:xfrm>
          <a:prstGeom prst="ellipse">
            <a:avLst/>
          </a:prstGeom>
          <a:solidFill>
            <a:srgbClr val="5BB8E0">
              <a:alpha val="45098"/>
            </a:srgbClr>
          </a:solidFill>
          <a:ln cap="flat" cmpd="sng" w="22225">
            <a:solidFill>
              <a:srgbClr val="5BB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9"/>
          <p:cNvSpPr/>
          <p:nvPr/>
        </p:nvSpPr>
        <p:spPr>
          <a:xfrm>
            <a:off x="1508760" y="192024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3F8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EAF3F8"/>
                </a:solidFill>
                <a:latin typeface="Arial"/>
                <a:ea typeface="Arial"/>
                <a:cs typeface="Arial"/>
                <a:sym typeface="Arial"/>
              </a:rPr>
              <a:t>L₁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9"/>
          <p:cNvSpPr/>
          <p:nvPr/>
        </p:nvSpPr>
        <p:spPr>
          <a:xfrm>
            <a:off x="3849624" y="192024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3F8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EAF3F8"/>
                </a:solidFill>
                <a:latin typeface="Arial"/>
                <a:ea typeface="Arial"/>
                <a:cs typeface="Arial"/>
                <a:sym typeface="Arial"/>
              </a:rPr>
              <a:t>L₂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9"/>
          <p:cNvSpPr/>
          <p:nvPr/>
        </p:nvSpPr>
        <p:spPr>
          <a:xfrm>
            <a:off x="1508760" y="3611880"/>
            <a:ext cx="266090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AF3F8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EAF3F8"/>
                </a:solidFill>
                <a:latin typeface="Arial"/>
                <a:ea typeface="Arial"/>
                <a:cs typeface="Arial"/>
                <a:sym typeface="Arial"/>
              </a:rPr>
              <a:t>União (L₁ ∪ L₂)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9"/>
          <p:cNvSpPr/>
          <p:nvPr/>
        </p:nvSpPr>
        <p:spPr>
          <a:xfrm>
            <a:off x="7315200" y="2011680"/>
            <a:ext cx="1463040" cy="1463040"/>
          </a:xfrm>
          <a:prstGeom prst="ellipse">
            <a:avLst/>
          </a:prstGeom>
          <a:noFill/>
          <a:ln cap="flat" cmpd="sng" w="22225">
            <a:solidFill>
              <a:srgbClr val="5BB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9"/>
          <p:cNvSpPr/>
          <p:nvPr/>
        </p:nvSpPr>
        <p:spPr>
          <a:xfrm>
            <a:off x="8375904" y="2011680"/>
            <a:ext cx="1463040" cy="1463040"/>
          </a:xfrm>
          <a:prstGeom prst="ellipse">
            <a:avLst/>
          </a:prstGeom>
          <a:noFill/>
          <a:ln cap="flat" cmpd="sng" w="22225">
            <a:solidFill>
              <a:srgbClr val="5BB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9"/>
          <p:cNvSpPr/>
          <p:nvPr/>
        </p:nvSpPr>
        <p:spPr>
          <a:xfrm>
            <a:off x="8375905" y="2267276"/>
            <a:ext cx="402336" cy="941833"/>
          </a:xfrm>
          <a:prstGeom prst="ellipse">
            <a:avLst/>
          </a:prstGeom>
          <a:solidFill>
            <a:srgbClr val="B0504D">
              <a:alpha val="5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9"/>
          <p:cNvSpPr/>
          <p:nvPr/>
        </p:nvSpPr>
        <p:spPr>
          <a:xfrm>
            <a:off x="7178040" y="192024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3F8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EAF3F8"/>
                </a:solidFill>
                <a:latin typeface="Arial"/>
                <a:ea typeface="Arial"/>
                <a:cs typeface="Arial"/>
                <a:sym typeface="Arial"/>
              </a:rPr>
              <a:t>L₁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9"/>
          <p:cNvSpPr/>
          <p:nvPr/>
        </p:nvSpPr>
        <p:spPr>
          <a:xfrm>
            <a:off x="9518904" y="192024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3F8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EAF3F8"/>
                </a:solidFill>
                <a:latin typeface="Arial"/>
                <a:ea typeface="Arial"/>
                <a:cs typeface="Arial"/>
                <a:sym typeface="Arial"/>
              </a:rPr>
              <a:t>L₂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9"/>
          <p:cNvSpPr/>
          <p:nvPr/>
        </p:nvSpPr>
        <p:spPr>
          <a:xfrm>
            <a:off x="7178040" y="3611880"/>
            <a:ext cx="266090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AF3F8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EAF3F8"/>
                </a:solidFill>
                <a:latin typeface="Arial"/>
                <a:ea typeface="Arial"/>
                <a:cs typeface="Arial"/>
                <a:sym typeface="Arial"/>
              </a:rPr>
              <a:t>Interseção (L₁ ∩ L₂)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9"/>
          <p:cNvSpPr/>
          <p:nvPr/>
        </p:nvSpPr>
        <p:spPr>
          <a:xfrm>
            <a:off x="1645920" y="4343400"/>
            <a:ext cx="1463040" cy="1463040"/>
          </a:xfrm>
          <a:prstGeom prst="ellipse">
            <a:avLst/>
          </a:prstGeom>
          <a:solidFill>
            <a:srgbClr val="CC9A3A">
              <a:alpha val="85098"/>
            </a:srgbClr>
          </a:solidFill>
          <a:ln cap="flat" cmpd="sng" w="22225">
            <a:solidFill>
              <a:srgbClr val="5BB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9"/>
          <p:cNvSpPr/>
          <p:nvPr/>
        </p:nvSpPr>
        <p:spPr>
          <a:xfrm>
            <a:off x="2706624" y="4343400"/>
            <a:ext cx="1463040" cy="1463040"/>
          </a:xfrm>
          <a:prstGeom prst="ellipse">
            <a:avLst/>
          </a:prstGeom>
          <a:solidFill>
            <a:srgbClr val="132C40"/>
          </a:solidFill>
          <a:ln cap="flat" cmpd="sng" w="22225">
            <a:solidFill>
              <a:srgbClr val="5BB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9"/>
          <p:cNvSpPr/>
          <p:nvPr/>
        </p:nvSpPr>
        <p:spPr>
          <a:xfrm>
            <a:off x="1508760" y="425196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3F8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EAF3F8"/>
                </a:solidFill>
                <a:latin typeface="Arial"/>
                <a:ea typeface="Arial"/>
                <a:cs typeface="Arial"/>
                <a:sym typeface="Arial"/>
              </a:rPr>
              <a:t>L₁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9"/>
          <p:cNvSpPr/>
          <p:nvPr/>
        </p:nvSpPr>
        <p:spPr>
          <a:xfrm>
            <a:off x="3849624" y="425196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3F8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EAF3F8"/>
                </a:solidFill>
                <a:latin typeface="Arial"/>
                <a:ea typeface="Arial"/>
                <a:cs typeface="Arial"/>
                <a:sym typeface="Arial"/>
              </a:rPr>
              <a:t>L₂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9"/>
          <p:cNvSpPr/>
          <p:nvPr/>
        </p:nvSpPr>
        <p:spPr>
          <a:xfrm>
            <a:off x="1508758" y="5943600"/>
            <a:ext cx="2660905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AF3F8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EAF3F8"/>
                </a:solidFill>
                <a:latin typeface="Arial"/>
                <a:ea typeface="Arial"/>
                <a:cs typeface="Arial"/>
                <a:sym typeface="Arial"/>
              </a:rPr>
              <a:t>Diferença (L₁ - L₂)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9"/>
          <p:cNvSpPr/>
          <p:nvPr/>
        </p:nvSpPr>
        <p:spPr>
          <a:xfrm>
            <a:off x="7178040" y="4453128"/>
            <a:ext cx="2660904" cy="1243584"/>
          </a:xfrm>
          <a:prstGeom prst="rect">
            <a:avLst/>
          </a:prstGeom>
          <a:solidFill>
            <a:srgbClr val="5BB8E0">
              <a:alpha val="65098"/>
            </a:srgbClr>
          </a:solidFill>
          <a:ln cap="flat" cmpd="sng" w="19050">
            <a:solidFill>
              <a:srgbClr val="5BB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9"/>
          <p:cNvSpPr/>
          <p:nvPr/>
        </p:nvSpPr>
        <p:spPr>
          <a:xfrm>
            <a:off x="7955280" y="4453128"/>
            <a:ext cx="1243584" cy="1243584"/>
          </a:xfrm>
          <a:prstGeom prst="ellipse">
            <a:avLst/>
          </a:prstGeom>
          <a:solidFill>
            <a:srgbClr val="132C40"/>
          </a:solidFill>
          <a:ln cap="flat" cmpd="sng" w="22225">
            <a:solidFill>
              <a:srgbClr val="5BB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9"/>
          <p:cNvSpPr/>
          <p:nvPr/>
        </p:nvSpPr>
        <p:spPr>
          <a:xfrm>
            <a:off x="8302752" y="4892040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AF3F8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EAF3F8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9"/>
          <p:cNvSpPr/>
          <p:nvPr/>
        </p:nvSpPr>
        <p:spPr>
          <a:xfrm>
            <a:off x="9381744" y="4407408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3F8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EAF3F8"/>
                </a:solidFill>
                <a:latin typeface="Arial"/>
                <a:ea typeface="Arial"/>
                <a:cs typeface="Arial"/>
                <a:sym typeface="Arial"/>
              </a:rPr>
              <a:t>Σ*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9"/>
          <p:cNvSpPr/>
          <p:nvPr/>
        </p:nvSpPr>
        <p:spPr>
          <a:xfrm>
            <a:off x="7178040" y="5943600"/>
            <a:ext cx="266090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AF3F8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EAF3F8"/>
                </a:solidFill>
                <a:latin typeface="Arial"/>
                <a:ea typeface="Arial"/>
                <a:cs typeface="Arial"/>
                <a:sym typeface="Arial"/>
              </a:rPr>
              <a:t>Complemento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98AC1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grid_dark.png" id="193" name="Google Shape;19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320040"/>
            <a:ext cx="11551615" cy="621792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0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noFill/>
          <a:ln cap="flat" cmpd="sng" w="25400">
            <a:solidFill>
              <a:srgbClr val="398A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0"/>
          <p:cNvSpPr/>
          <p:nvPr/>
        </p:nvSpPr>
        <p:spPr>
          <a:xfrm>
            <a:off x="685800" y="502920"/>
            <a:ext cx="10789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CBEA"/>
              </a:buClr>
              <a:buSzPts val="2600"/>
              <a:buFont typeface="Arial"/>
              <a:buNone/>
            </a:pPr>
            <a:r>
              <a:rPr b="1" lang="en-US" sz="2600">
                <a:solidFill>
                  <a:srgbClr val="7FCBEA"/>
                </a:solidFill>
                <a:latin typeface="Arial"/>
                <a:ea typeface="Arial"/>
                <a:cs typeface="Arial"/>
                <a:sym typeface="Arial"/>
              </a:rPr>
              <a:t>Checkpoint Rápido: Antes de Continuar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0"/>
          <p:cNvSpPr/>
          <p:nvPr/>
        </p:nvSpPr>
        <p:spPr>
          <a:xfrm>
            <a:off x="685800" y="1143000"/>
            <a:ext cx="10789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3F8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EAF3F8"/>
                </a:solidFill>
                <a:latin typeface="Arial"/>
                <a:ea typeface="Arial"/>
                <a:cs typeface="Arial"/>
                <a:sym typeface="Arial"/>
              </a:rPr>
              <a:t>Responda mentalmente (ou com os dedos: 1, 2 ou 3) antes de seguirmos para a próxima operação.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0"/>
          <p:cNvSpPr/>
          <p:nvPr/>
        </p:nvSpPr>
        <p:spPr>
          <a:xfrm>
            <a:off x="685800" y="2057400"/>
            <a:ext cx="3383280" cy="3291840"/>
          </a:xfrm>
          <a:prstGeom prst="rect">
            <a:avLst/>
          </a:prstGeom>
          <a:noFill/>
          <a:ln cap="flat" cmpd="sng" w="19050">
            <a:solidFill>
              <a:srgbClr val="5BB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0"/>
          <p:cNvSpPr/>
          <p:nvPr/>
        </p:nvSpPr>
        <p:spPr>
          <a:xfrm>
            <a:off x="685800" y="2057400"/>
            <a:ext cx="502920" cy="502920"/>
          </a:xfrm>
          <a:prstGeom prst="rect">
            <a:avLst/>
          </a:prstGeom>
          <a:solidFill>
            <a:srgbClr val="5BB8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0"/>
          <p:cNvSpPr/>
          <p:nvPr/>
        </p:nvSpPr>
        <p:spPr>
          <a:xfrm>
            <a:off x="685800" y="205740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C4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132C4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0"/>
          <p:cNvSpPr/>
          <p:nvPr/>
        </p:nvSpPr>
        <p:spPr>
          <a:xfrm>
            <a:off x="1280160" y="2057400"/>
            <a:ext cx="2697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Arial"/>
              <a:buNone/>
            </a:pPr>
            <a:r>
              <a:rPr b="1" lang="en-US" sz="16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Σ*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0"/>
          <p:cNvSpPr/>
          <p:nvPr/>
        </p:nvSpPr>
        <p:spPr>
          <a:xfrm>
            <a:off x="914400" y="2743200"/>
            <a:ext cx="292608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AF3F8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EAF3F8"/>
                </a:solidFill>
                <a:latin typeface="Arial"/>
                <a:ea typeface="Arial"/>
                <a:cs typeface="Arial"/>
                <a:sym typeface="Arial"/>
              </a:rPr>
              <a:t>Se Σ = {0,1}, a cadeia vazia ε pertence a Σ*?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0"/>
          <p:cNvSpPr/>
          <p:nvPr/>
        </p:nvSpPr>
        <p:spPr>
          <a:xfrm>
            <a:off x="4343400" y="2057400"/>
            <a:ext cx="3383280" cy="3291840"/>
          </a:xfrm>
          <a:prstGeom prst="rect">
            <a:avLst/>
          </a:prstGeom>
          <a:noFill/>
          <a:ln cap="flat" cmpd="sng" w="19050">
            <a:solidFill>
              <a:srgbClr val="5BB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0"/>
          <p:cNvSpPr/>
          <p:nvPr/>
        </p:nvSpPr>
        <p:spPr>
          <a:xfrm>
            <a:off x="4343400" y="2057400"/>
            <a:ext cx="502920" cy="502920"/>
          </a:xfrm>
          <a:prstGeom prst="rect">
            <a:avLst/>
          </a:prstGeom>
          <a:solidFill>
            <a:srgbClr val="5BB8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0"/>
          <p:cNvSpPr/>
          <p:nvPr/>
        </p:nvSpPr>
        <p:spPr>
          <a:xfrm>
            <a:off x="4343400" y="205740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C4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132C4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0"/>
          <p:cNvSpPr/>
          <p:nvPr/>
        </p:nvSpPr>
        <p:spPr>
          <a:xfrm>
            <a:off x="4937760" y="2057400"/>
            <a:ext cx="2697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Arial"/>
              <a:buNone/>
            </a:pPr>
            <a:r>
              <a:rPr b="1" lang="en-US" sz="16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Comprimento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0"/>
          <p:cNvSpPr/>
          <p:nvPr/>
        </p:nvSpPr>
        <p:spPr>
          <a:xfrm>
            <a:off x="4572000" y="2743200"/>
            <a:ext cx="292608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AF3F8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EAF3F8"/>
                </a:solidFill>
                <a:latin typeface="Arial"/>
                <a:ea typeface="Arial"/>
                <a:cs typeface="Arial"/>
                <a:sym typeface="Arial"/>
              </a:rPr>
              <a:t>Qual o tamanho de |abcb|?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0"/>
          <p:cNvSpPr/>
          <p:nvPr/>
        </p:nvSpPr>
        <p:spPr>
          <a:xfrm>
            <a:off x="8001000" y="2057400"/>
            <a:ext cx="3383280" cy="3291840"/>
          </a:xfrm>
          <a:prstGeom prst="rect">
            <a:avLst/>
          </a:prstGeom>
          <a:noFill/>
          <a:ln cap="flat" cmpd="sng" w="19050">
            <a:solidFill>
              <a:srgbClr val="5BB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0"/>
          <p:cNvSpPr/>
          <p:nvPr/>
        </p:nvSpPr>
        <p:spPr>
          <a:xfrm>
            <a:off x="8001000" y="2057400"/>
            <a:ext cx="502920" cy="502920"/>
          </a:xfrm>
          <a:prstGeom prst="rect">
            <a:avLst/>
          </a:prstGeom>
          <a:solidFill>
            <a:srgbClr val="5BB8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0"/>
          <p:cNvSpPr/>
          <p:nvPr/>
        </p:nvSpPr>
        <p:spPr>
          <a:xfrm>
            <a:off x="8001000" y="205740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C4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132C4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0"/>
          <p:cNvSpPr/>
          <p:nvPr/>
        </p:nvSpPr>
        <p:spPr>
          <a:xfrm>
            <a:off x="8595360" y="2057400"/>
            <a:ext cx="2697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Arial"/>
              <a:buNone/>
            </a:pPr>
            <a:r>
              <a:rPr b="1" lang="en-US" sz="16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Σ⁺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0"/>
          <p:cNvSpPr/>
          <p:nvPr/>
        </p:nvSpPr>
        <p:spPr>
          <a:xfrm>
            <a:off x="8229600" y="2743200"/>
            <a:ext cx="292608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AF3F8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EAF3F8"/>
                </a:solidFill>
                <a:latin typeface="Arial"/>
                <a:ea typeface="Arial"/>
                <a:cs typeface="Arial"/>
                <a:sym typeface="Arial"/>
              </a:rPr>
              <a:t>Σ⁺ inclui a palavra vazia ε? Sim ou não?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98AC1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grid_dark.png" id="217" name="Google Shape;21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320040"/>
            <a:ext cx="11551615" cy="621792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11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noFill/>
          <a:ln cap="flat" cmpd="sng" w="25400">
            <a:solidFill>
              <a:srgbClr val="398A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1"/>
          <p:cNvSpPr/>
          <p:nvPr/>
        </p:nvSpPr>
        <p:spPr>
          <a:xfrm>
            <a:off x="685800" y="502920"/>
            <a:ext cx="10789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CBEA"/>
              </a:buClr>
              <a:buSzPts val="2600"/>
              <a:buFont typeface="Arial"/>
              <a:buNone/>
            </a:pPr>
            <a:r>
              <a:rPr b="1" lang="en-US" sz="2600">
                <a:solidFill>
                  <a:srgbClr val="7FCBEA"/>
                </a:solidFill>
                <a:latin typeface="Arial"/>
                <a:ea typeface="Arial"/>
                <a:cs typeface="Arial"/>
                <a:sym typeface="Arial"/>
              </a:rPr>
              <a:t>A Química Avançada: Concatenação de Linguagens (L₁L₂)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1"/>
          <p:cNvSpPr/>
          <p:nvPr/>
        </p:nvSpPr>
        <p:spPr>
          <a:xfrm>
            <a:off x="685800" y="1143000"/>
            <a:ext cx="10789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3F8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EAF3F8"/>
                </a:solidFill>
                <a:latin typeface="Arial"/>
                <a:ea typeface="Arial"/>
                <a:cs typeface="Arial"/>
                <a:sym typeface="Arial"/>
              </a:rPr>
              <a:t>Diferente da união, a concatenação funde os elementos de dois conjuntos para criar novas palavras.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1"/>
          <p:cNvSpPr/>
          <p:nvPr/>
        </p:nvSpPr>
        <p:spPr>
          <a:xfrm>
            <a:off x="2926080" y="1920240"/>
            <a:ext cx="6309360" cy="777240"/>
          </a:xfrm>
          <a:prstGeom prst="rect">
            <a:avLst/>
          </a:prstGeom>
          <a:solidFill>
            <a:srgbClr val="0E2438"/>
          </a:solidFill>
          <a:ln cap="flat" cmpd="sng" w="19050">
            <a:solidFill>
              <a:srgbClr val="5BB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1"/>
          <p:cNvSpPr/>
          <p:nvPr/>
        </p:nvSpPr>
        <p:spPr>
          <a:xfrm>
            <a:off x="2926080" y="1920240"/>
            <a:ext cx="63093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onsolas"/>
              <a:buNone/>
            </a:pPr>
            <a:r>
              <a:rPr b="1" lang="en-US" sz="1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L₁L₂ = {vw | v ∈ L₁, w ∈ L₂}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1"/>
          <p:cNvSpPr/>
          <p:nvPr/>
        </p:nvSpPr>
        <p:spPr>
          <a:xfrm>
            <a:off x="1828800" y="2971800"/>
            <a:ext cx="1371600" cy="1371600"/>
          </a:xfrm>
          <a:prstGeom prst="roundRect">
            <a:avLst>
              <a:gd fmla="val 6667" name="adj"/>
            </a:avLst>
          </a:prstGeom>
          <a:solidFill>
            <a:srgbClr val="0E2438"/>
          </a:solidFill>
          <a:ln cap="flat" cmpd="sng" w="19050">
            <a:solidFill>
              <a:srgbClr val="5BB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1"/>
          <p:cNvSpPr/>
          <p:nvPr/>
        </p:nvSpPr>
        <p:spPr>
          <a:xfrm>
            <a:off x="1828800" y="3081528"/>
            <a:ext cx="1371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onsolas"/>
              <a:buNone/>
            </a:pPr>
            <a:r>
              <a:rPr b="1" lang="en-US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1"/>
          <p:cNvSpPr/>
          <p:nvPr/>
        </p:nvSpPr>
        <p:spPr>
          <a:xfrm>
            <a:off x="1828800" y="3685032"/>
            <a:ext cx="1371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onsolas"/>
              <a:buNone/>
            </a:pPr>
            <a:r>
              <a:rPr b="1" lang="en-US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b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1"/>
          <p:cNvSpPr/>
          <p:nvPr/>
        </p:nvSpPr>
        <p:spPr>
          <a:xfrm>
            <a:off x="1051560" y="3429000"/>
            <a:ext cx="640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3F8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EAF3F8"/>
                </a:solidFill>
                <a:latin typeface="Arial"/>
                <a:ea typeface="Arial"/>
                <a:cs typeface="Arial"/>
                <a:sym typeface="Arial"/>
              </a:rPr>
              <a:t>L₁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1"/>
          <p:cNvSpPr/>
          <p:nvPr/>
        </p:nvSpPr>
        <p:spPr>
          <a:xfrm>
            <a:off x="8961120" y="2971800"/>
            <a:ext cx="1371600" cy="1371600"/>
          </a:xfrm>
          <a:prstGeom prst="roundRect">
            <a:avLst>
              <a:gd fmla="val 6667" name="adj"/>
            </a:avLst>
          </a:prstGeom>
          <a:solidFill>
            <a:srgbClr val="0E2438"/>
          </a:solidFill>
          <a:ln cap="flat" cmpd="sng" w="19050">
            <a:solidFill>
              <a:srgbClr val="5BB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1"/>
          <p:cNvSpPr/>
          <p:nvPr/>
        </p:nvSpPr>
        <p:spPr>
          <a:xfrm>
            <a:off x="8961120" y="3081528"/>
            <a:ext cx="1371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onsolas"/>
              <a:buNone/>
            </a:pPr>
            <a:r>
              <a:rPr b="1" lang="en-US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1"/>
          <p:cNvSpPr/>
          <p:nvPr/>
        </p:nvSpPr>
        <p:spPr>
          <a:xfrm>
            <a:off x="8961120" y="3685032"/>
            <a:ext cx="1371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onsolas"/>
              <a:buNone/>
            </a:pPr>
            <a:r>
              <a:rPr b="1" lang="en-US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d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1"/>
          <p:cNvSpPr/>
          <p:nvPr/>
        </p:nvSpPr>
        <p:spPr>
          <a:xfrm>
            <a:off x="10607040" y="3429000"/>
            <a:ext cx="640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3F8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EAF3F8"/>
                </a:solidFill>
                <a:latin typeface="Arial"/>
                <a:ea typeface="Arial"/>
                <a:cs typeface="Arial"/>
                <a:sym typeface="Arial"/>
              </a:rPr>
              <a:t>L₂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1" name="Google Shape;231;p11"/>
          <p:cNvCxnSpPr/>
          <p:nvPr/>
        </p:nvCxnSpPr>
        <p:spPr>
          <a:xfrm>
            <a:off x="3200400" y="3355848"/>
            <a:ext cx="5760720" cy="9144"/>
          </a:xfrm>
          <a:prstGeom prst="straightConnector1">
            <a:avLst/>
          </a:prstGeom>
          <a:noFill/>
          <a:ln cap="flat" cmpd="sng" w="15875">
            <a:solidFill>
              <a:srgbClr val="5BB8E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2" name="Google Shape;232;p11"/>
          <p:cNvCxnSpPr/>
          <p:nvPr/>
        </p:nvCxnSpPr>
        <p:spPr>
          <a:xfrm>
            <a:off x="3200400" y="3959352"/>
            <a:ext cx="5760720" cy="9144"/>
          </a:xfrm>
          <a:prstGeom prst="straightConnector1">
            <a:avLst/>
          </a:prstGeom>
          <a:noFill/>
          <a:ln cap="flat" cmpd="sng" w="15875">
            <a:solidFill>
              <a:srgbClr val="5BB8E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3" name="Google Shape;233;p11"/>
          <p:cNvCxnSpPr/>
          <p:nvPr/>
        </p:nvCxnSpPr>
        <p:spPr>
          <a:xfrm>
            <a:off x="3200400" y="3355848"/>
            <a:ext cx="5760720" cy="603504"/>
          </a:xfrm>
          <a:prstGeom prst="straightConnector1">
            <a:avLst/>
          </a:prstGeom>
          <a:noFill/>
          <a:ln cap="flat" cmpd="sng" w="15875">
            <a:solidFill>
              <a:srgbClr val="5BB8E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4" name="Google Shape;234;p11"/>
          <p:cNvCxnSpPr/>
          <p:nvPr/>
        </p:nvCxnSpPr>
        <p:spPr>
          <a:xfrm>
            <a:off x="3200400" y="3355848"/>
            <a:ext cx="5760720" cy="603504"/>
          </a:xfrm>
          <a:prstGeom prst="straightConnector1">
            <a:avLst/>
          </a:prstGeom>
          <a:noFill/>
          <a:ln cap="flat" cmpd="sng" w="15875">
            <a:solidFill>
              <a:srgbClr val="5BB8E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35" name="Google Shape;235;p11"/>
          <p:cNvSpPr/>
          <p:nvPr/>
        </p:nvSpPr>
        <p:spPr>
          <a:xfrm>
            <a:off x="3566160" y="4800600"/>
            <a:ext cx="5029200" cy="914400"/>
          </a:xfrm>
          <a:prstGeom prst="rect">
            <a:avLst/>
          </a:prstGeom>
          <a:solidFill>
            <a:srgbClr val="0E2438"/>
          </a:solidFill>
          <a:ln cap="flat" cmpd="sng" w="19050">
            <a:solidFill>
              <a:srgbClr val="5BB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1"/>
          <p:cNvSpPr/>
          <p:nvPr/>
        </p:nvSpPr>
        <p:spPr>
          <a:xfrm>
            <a:off x="3566160" y="4800600"/>
            <a:ext cx="5029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onsolas"/>
              <a:buNone/>
            </a:pPr>
            <a:r>
              <a:rPr b="1" lang="en-US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L₁L₂ = {ac, ad, bc, bd}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7" name="Google Shape;237;p11"/>
          <p:cNvCxnSpPr>
            <a:stCxn id="232" idx="0"/>
            <a:endCxn id="231" idx="1"/>
          </p:cNvCxnSpPr>
          <p:nvPr/>
        </p:nvCxnSpPr>
        <p:spPr>
          <a:xfrm flipH="1" rot="10800000">
            <a:off x="3200400" y="3365052"/>
            <a:ext cx="5760600" cy="5943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miter lim="8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98AC1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grid_dark.png" id="243" name="Google Shape;24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320040"/>
            <a:ext cx="11551615" cy="621792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12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noFill/>
          <a:ln cap="flat" cmpd="sng" w="25400">
            <a:solidFill>
              <a:srgbClr val="398A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2"/>
          <p:cNvSpPr/>
          <p:nvPr/>
        </p:nvSpPr>
        <p:spPr>
          <a:xfrm>
            <a:off x="685800" y="502920"/>
            <a:ext cx="10789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CBEA"/>
              </a:buClr>
              <a:buSzPts val="2600"/>
              <a:buFont typeface="Arial"/>
              <a:buNone/>
            </a:pPr>
            <a:r>
              <a:rPr b="1" lang="en-US" sz="2600">
                <a:solidFill>
                  <a:srgbClr val="7FCBEA"/>
                </a:solidFill>
                <a:latin typeface="Arial"/>
                <a:ea typeface="Arial"/>
                <a:cs typeface="Arial"/>
                <a:sym typeface="Arial"/>
              </a:rPr>
              <a:t>A Máquina do Infinito: Fechamento de Kleene (L*)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2"/>
          <p:cNvSpPr/>
          <p:nvPr/>
        </p:nvSpPr>
        <p:spPr>
          <a:xfrm>
            <a:off x="685800" y="1143000"/>
            <a:ext cx="10789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3F8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EAF3F8"/>
                </a:solidFill>
                <a:latin typeface="Arial"/>
                <a:ea typeface="Arial"/>
                <a:cs typeface="Arial"/>
                <a:sym typeface="Arial"/>
              </a:rPr>
              <a:t>O Fechamento de Kleene de uma linguagem L representa zero ou mais concatenações de L consigo mesma. É a operação unária que gera a infinitude.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2"/>
          <p:cNvSpPr/>
          <p:nvPr/>
        </p:nvSpPr>
        <p:spPr>
          <a:xfrm>
            <a:off x="2286000" y="1874520"/>
            <a:ext cx="6035040" cy="731520"/>
          </a:xfrm>
          <a:prstGeom prst="rect">
            <a:avLst/>
          </a:prstGeom>
          <a:solidFill>
            <a:srgbClr val="0E2438"/>
          </a:solidFill>
          <a:ln cap="flat" cmpd="sng" w="19050">
            <a:solidFill>
              <a:srgbClr val="5BB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2"/>
          <p:cNvSpPr/>
          <p:nvPr/>
        </p:nvSpPr>
        <p:spPr>
          <a:xfrm>
            <a:off x="2286000" y="1874520"/>
            <a:ext cx="60350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onsolas"/>
              <a:buNone/>
            </a:pPr>
            <a:r>
              <a:rPr b="1" lang="en-US" sz="1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L* = L⁰ ∪ L¹ ∪ L² ∪ L³ ...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2"/>
          <p:cNvSpPr/>
          <p:nvPr/>
        </p:nvSpPr>
        <p:spPr>
          <a:xfrm>
            <a:off x="914400" y="3246120"/>
            <a:ext cx="5760720" cy="2834640"/>
          </a:xfrm>
          <a:prstGeom prst="ellipse">
            <a:avLst/>
          </a:prstGeom>
          <a:noFill/>
          <a:ln cap="flat" cmpd="sng" w="22225">
            <a:solidFill>
              <a:srgbClr val="5BB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2"/>
          <p:cNvSpPr/>
          <p:nvPr/>
        </p:nvSpPr>
        <p:spPr>
          <a:xfrm>
            <a:off x="1828800" y="3703320"/>
            <a:ext cx="3931920" cy="1920240"/>
          </a:xfrm>
          <a:prstGeom prst="ellipse">
            <a:avLst/>
          </a:prstGeom>
          <a:noFill/>
          <a:ln cap="flat" cmpd="sng" w="22225">
            <a:solidFill>
              <a:srgbClr val="8FD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2"/>
          <p:cNvSpPr/>
          <p:nvPr/>
        </p:nvSpPr>
        <p:spPr>
          <a:xfrm>
            <a:off x="2743200" y="4096512"/>
            <a:ext cx="2103120" cy="1133856"/>
          </a:xfrm>
          <a:prstGeom prst="ellipse">
            <a:avLst/>
          </a:prstGeom>
          <a:noFill/>
          <a:ln cap="flat" cmpd="sng" w="22225">
            <a:solidFill>
              <a:srgbClr val="CDEF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2"/>
          <p:cNvSpPr/>
          <p:nvPr/>
        </p:nvSpPr>
        <p:spPr>
          <a:xfrm>
            <a:off x="3739896" y="4608576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2"/>
          <p:cNvSpPr/>
          <p:nvPr/>
        </p:nvSpPr>
        <p:spPr>
          <a:xfrm>
            <a:off x="3429000" y="4773168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AF3F8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EAF3F8"/>
                </a:solidFill>
                <a:latin typeface="Arial"/>
                <a:ea typeface="Arial"/>
                <a:cs typeface="Arial"/>
                <a:sym typeface="Arial"/>
              </a:rPr>
              <a:t>L⁰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2"/>
          <p:cNvSpPr/>
          <p:nvPr/>
        </p:nvSpPr>
        <p:spPr>
          <a:xfrm>
            <a:off x="8503920" y="3063240"/>
            <a:ext cx="237744" cy="237744"/>
          </a:xfrm>
          <a:prstGeom prst="rect">
            <a:avLst/>
          </a:prstGeom>
          <a:noFill/>
          <a:ln cap="flat" cmpd="sng" w="25400">
            <a:solidFill>
              <a:srgbClr val="5BB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2"/>
          <p:cNvSpPr/>
          <p:nvPr/>
        </p:nvSpPr>
        <p:spPr>
          <a:xfrm>
            <a:off x="8915400" y="301752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CBEA"/>
              </a:buClr>
              <a:buSzPts val="1250"/>
              <a:buFont typeface="Arial"/>
              <a:buNone/>
            </a:pPr>
            <a:r>
              <a:rPr b="1" lang="en-US" sz="1250">
                <a:solidFill>
                  <a:srgbClr val="7FCBEA"/>
                </a:solidFill>
                <a:latin typeface="Arial"/>
                <a:ea typeface="Arial"/>
                <a:cs typeface="Arial"/>
                <a:sym typeface="Arial"/>
              </a:rPr>
              <a:t>L⁰  </a:t>
            </a:r>
            <a:r>
              <a:rPr lang="en-US" sz="1250">
                <a:solidFill>
                  <a:srgbClr val="EAF3F8"/>
                </a:solidFill>
                <a:latin typeface="Arial"/>
                <a:ea typeface="Arial"/>
                <a:cs typeface="Arial"/>
                <a:sym typeface="Arial"/>
              </a:rPr>
              <a:t>= {ε}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2"/>
          <p:cNvSpPr/>
          <p:nvPr/>
        </p:nvSpPr>
        <p:spPr>
          <a:xfrm>
            <a:off x="8503920" y="3566160"/>
            <a:ext cx="237744" cy="237744"/>
          </a:xfrm>
          <a:prstGeom prst="rect">
            <a:avLst/>
          </a:prstGeom>
          <a:noFill/>
          <a:ln cap="flat" cmpd="sng" w="25400">
            <a:solidFill>
              <a:srgbClr val="8FD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2"/>
          <p:cNvSpPr/>
          <p:nvPr/>
        </p:nvSpPr>
        <p:spPr>
          <a:xfrm>
            <a:off x="8915400" y="352044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CBEA"/>
              </a:buClr>
              <a:buSzPts val="1250"/>
              <a:buFont typeface="Arial"/>
              <a:buNone/>
            </a:pPr>
            <a:r>
              <a:rPr b="1" lang="en-US" sz="1250">
                <a:solidFill>
                  <a:srgbClr val="7FCBEA"/>
                </a:solidFill>
                <a:latin typeface="Arial"/>
                <a:ea typeface="Arial"/>
                <a:cs typeface="Arial"/>
                <a:sym typeface="Arial"/>
              </a:rPr>
              <a:t>L¹  </a:t>
            </a:r>
            <a:r>
              <a:rPr lang="en-US" sz="1250">
                <a:solidFill>
                  <a:srgbClr val="EAF3F8"/>
                </a:solidFill>
                <a:latin typeface="Arial"/>
                <a:ea typeface="Arial"/>
                <a:cs typeface="Arial"/>
                <a:sym typeface="Arial"/>
              </a:rPr>
              <a:t>palavras originais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2"/>
          <p:cNvSpPr/>
          <p:nvPr/>
        </p:nvSpPr>
        <p:spPr>
          <a:xfrm>
            <a:off x="8503920" y="4069080"/>
            <a:ext cx="237744" cy="237744"/>
          </a:xfrm>
          <a:prstGeom prst="rect">
            <a:avLst/>
          </a:prstGeom>
          <a:noFill/>
          <a:ln cap="flat" cmpd="sng" w="25400">
            <a:solidFill>
              <a:srgbClr val="CDEF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2"/>
          <p:cNvSpPr/>
          <p:nvPr/>
        </p:nvSpPr>
        <p:spPr>
          <a:xfrm>
            <a:off x="8915400" y="402336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CBEA"/>
              </a:buClr>
              <a:buSzPts val="1250"/>
              <a:buFont typeface="Arial"/>
              <a:buNone/>
            </a:pPr>
            <a:r>
              <a:rPr b="1" lang="en-US" sz="1250">
                <a:solidFill>
                  <a:srgbClr val="7FCBEA"/>
                </a:solidFill>
                <a:latin typeface="Arial"/>
                <a:ea typeface="Arial"/>
                <a:cs typeface="Arial"/>
                <a:sym typeface="Arial"/>
              </a:rPr>
              <a:t>L²  </a:t>
            </a:r>
            <a:r>
              <a:rPr lang="en-US" sz="1250">
                <a:solidFill>
                  <a:srgbClr val="EAF3F8"/>
                </a:solidFill>
                <a:latin typeface="Arial"/>
                <a:ea typeface="Arial"/>
                <a:cs typeface="Arial"/>
                <a:sym typeface="Arial"/>
              </a:rPr>
              <a:t>combinações de 2 palavras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2"/>
          <p:cNvSpPr/>
          <p:nvPr/>
        </p:nvSpPr>
        <p:spPr>
          <a:xfrm>
            <a:off x="8503920" y="4572000"/>
            <a:ext cx="237744" cy="237744"/>
          </a:xfrm>
          <a:prstGeom prst="rect">
            <a:avLst/>
          </a:prstGeom>
          <a:noFill/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2"/>
          <p:cNvSpPr/>
          <p:nvPr/>
        </p:nvSpPr>
        <p:spPr>
          <a:xfrm>
            <a:off x="8915400" y="452628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CBEA"/>
              </a:buClr>
              <a:buSzPts val="1250"/>
              <a:buFont typeface="Arial"/>
              <a:buNone/>
            </a:pPr>
            <a:r>
              <a:rPr b="1" lang="en-US" sz="1250">
                <a:solidFill>
                  <a:srgbClr val="7FCBEA"/>
                </a:solidFill>
                <a:latin typeface="Arial"/>
                <a:ea typeface="Arial"/>
                <a:cs typeface="Arial"/>
                <a:sym typeface="Arial"/>
              </a:rPr>
              <a:t>L³, L⁴ ...  </a:t>
            </a:r>
            <a:r>
              <a:rPr lang="en-US" sz="1250">
                <a:solidFill>
                  <a:srgbClr val="EAF3F8"/>
                </a:solidFill>
                <a:latin typeface="Arial"/>
                <a:ea typeface="Arial"/>
                <a:cs typeface="Arial"/>
                <a:sym typeface="Arial"/>
              </a:rPr>
              <a:t>combinações maiores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2"/>
          <p:cNvSpPr/>
          <p:nvPr/>
        </p:nvSpPr>
        <p:spPr>
          <a:xfrm>
            <a:off x="8503920" y="5166360"/>
            <a:ext cx="3063240" cy="960120"/>
          </a:xfrm>
          <a:prstGeom prst="rect">
            <a:avLst/>
          </a:prstGeom>
          <a:solidFill>
            <a:srgbClr val="0E2438"/>
          </a:solidFill>
          <a:ln cap="flat" cmpd="sng" w="15875">
            <a:solidFill>
              <a:srgbClr val="5BB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2"/>
          <p:cNvSpPr/>
          <p:nvPr/>
        </p:nvSpPr>
        <p:spPr>
          <a:xfrm>
            <a:off x="8641080" y="5257800"/>
            <a:ext cx="27889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3F8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EAF3F8"/>
                </a:solidFill>
                <a:latin typeface="Arial"/>
                <a:ea typeface="Arial"/>
                <a:cs typeface="Arial"/>
                <a:sym typeface="Arial"/>
              </a:rPr>
              <a:t>Nota: L⁺ = L* excluindo L⁰, a menos que L já contenha ε.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98AC1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grid_dark.png" id="269" name="Google Shape;26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320040"/>
            <a:ext cx="11551615" cy="621792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13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noFill/>
          <a:ln cap="flat" cmpd="sng" w="25400">
            <a:solidFill>
              <a:srgbClr val="398A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3"/>
          <p:cNvSpPr/>
          <p:nvPr/>
        </p:nvSpPr>
        <p:spPr>
          <a:xfrm>
            <a:off x="685800" y="502920"/>
            <a:ext cx="10789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CBEA"/>
              </a:buClr>
              <a:buSzPts val="2600"/>
              <a:buFont typeface="Arial"/>
              <a:buNone/>
            </a:pPr>
            <a:r>
              <a:rPr b="1" lang="en-US" sz="2600">
                <a:solidFill>
                  <a:srgbClr val="7FCBEA"/>
                </a:solidFill>
                <a:latin typeface="Arial"/>
                <a:ea typeface="Arial"/>
                <a:cs typeface="Arial"/>
                <a:sym typeface="Arial"/>
              </a:rPr>
              <a:t>O Grande Paradoxo: O Vazio (∅) vs. O Nada ({ε})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3"/>
          <p:cNvSpPr/>
          <p:nvPr/>
        </p:nvSpPr>
        <p:spPr>
          <a:xfrm>
            <a:off x="685800" y="1143000"/>
            <a:ext cx="10789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3F8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EAF3F8"/>
                </a:solidFill>
                <a:latin typeface="Arial"/>
                <a:ea typeface="Arial"/>
                <a:cs typeface="Arial"/>
                <a:sym typeface="Arial"/>
              </a:rPr>
              <a:t>Em linguagens formais, há uma diferença matemática abismal entre um conjunto vazio e um conjunto que contém a palavra vazia.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3"/>
          <p:cNvSpPr/>
          <p:nvPr/>
        </p:nvSpPr>
        <p:spPr>
          <a:xfrm>
            <a:off x="685800" y="1783080"/>
            <a:ext cx="4937760" cy="457200"/>
          </a:xfrm>
          <a:prstGeom prst="rect">
            <a:avLst/>
          </a:prstGeom>
          <a:solidFill>
            <a:srgbClr val="4A7F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3"/>
          <p:cNvSpPr/>
          <p:nvPr/>
        </p:nvSpPr>
        <p:spPr>
          <a:xfrm>
            <a:off x="822960" y="1783080"/>
            <a:ext cx="4663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Arial"/>
              <a:buNone/>
            </a:pPr>
            <a:r>
              <a:rPr b="1" lang="en-US" sz="15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 Conjunto Vazio (∅)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3"/>
          <p:cNvSpPr/>
          <p:nvPr/>
        </p:nvSpPr>
        <p:spPr>
          <a:xfrm>
            <a:off x="685800" y="2240280"/>
            <a:ext cx="4937760" cy="2926080"/>
          </a:xfrm>
          <a:prstGeom prst="rect">
            <a:avLst/>
          </a:prstGeom>
          <a:solidFill>
            <a:srgbClr val="0E2438"/>
          </a:solidFill>
          <a:ln cap="flat" cmpd="sng" w="12700">
            <a:solidFill>
              <a:srgbClr val="4A7F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3"/>
          <p:cNvSpPr/>
          <p:nvPr/>
        </p:nvSpPr>
        <p:spPr>
          <a:xfrm>
            <a:off x="914400" y="2377440"/>
            <a:ext cx="4480560" cy="2651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AF3F8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EAF3F8"/>
                </a:solidFill>
                <a:latin typeface="Arial"/>
                <a:ea typeface="Arial"/>
                <a:cs typeface="Arial"/>
                <a:sym typeface="Arial"/>
              </a:rPr>
              <a:t>Tamanho do conjunto: 0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AF3F8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EAF3F8"/>
                </a:solidFill>
                <a:latin typeface="Arial"/>
                <a:ea typeface="Arial"/>
                <a:cs typeface="Arial"/>
                <a:sym typeface="Arial"/>
              </a:rPr>
              <a:t>Metáfora: uma caixa completamente vazia — não existe nem uma palavra dentro.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3"/>
          <p:cNvSpPr/>
          <p:nvPr/>
        </p:nvSpPr>
        <p:spPr>
          <a:xfrm>
            <a:off x="685800" y="1783080"/>
            <a:ext cx="4937760" cy="3383280"/>
          </a:xfrm>
          <a:prstGeom prst="rect">
            <a:avLst/>
          </a:prstGeom>
          <a:noFill/>
          <a:ln cap="flat" cmpd="sng" w="19050">
            <a:solidFill>
              <a:srgbClr val="4A7F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3"/>
          <p:cNvSpPr/>
          <p:nvPr/>
        </p:nvSpPr>
        <p:spPr>
          <a:xfrm>
            <a:off x="5806440" y="2971800"/>
            <a:ext cx="5486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9A3A"/>
              </a:buClr>
              <a:buSzPts val="4400"/>
              <a:buFont typeface="Arial"/>
              <a:buNone/>
            </a:pPr>
            <a:r>
              <a:rPr b="1" lang="en-US" sz="4400">
                <a:solidFill>
                  <a:srgbClr val="CC9A3A"/>
                </a:solidFill>
                <a:latin typeface="Arial"/>
                <a:ea typeface="Arial"/>
                <a:cs typeface="Arial"/>
                <a:sym typeface="Arial"/>
              </a:rPr>
              <a:t>≠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3"/>
          <p:cNvSpPr/>
          <p:nvPr/>
        </p:nvSpPr>
        <p:spPr>
          <a:xfrm>
            <a:off x="6537960" y="1783080"/>
            <a:ext cx="4937760" cy="457200"/>
          </a:xfrm>
          <a:prstGeom prst="rect">
            <a:avLst/>
          </a:prstGeom>
          <a:solidFill>
            <a:srgbClr val="CC9A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3"/>
          <p:cNvSpPr/>
          <p:nvPr/>
        </p:nvSpPr>
        <p:spPr>
          <a:xfrm>
            <a:off x="6675120" y="1783080"/>
            <a:ext cx="4663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Arial"/>
              <a:buNone/>
            </a:pPr>
            <a:r>
              <a:rPr b="1" lang="en-US" sz="15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Linguagem com Palavra Vazia ({ε})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3"/>
          <p:cNvSpPr/>
          <p:nvPr/>
        </p:nvSpPr>
        <p:spPr>
          <a:xfrm>
            <a:off x="6537960" y="2240280"/>
            <a:ext cx="4937760" cy="2926080"/>
          </a:xfrm>
          <a:prstGeom prst="rect">
            <a:avLst/>
          </a:prstGeom>
          <a:solidFill>
            <a:srgbClr val="0E2438"/>
          </a:solidFill>
          <a:ln cap="flat" cmpd="sng" w="12700">
            <a:solidFill>
              <a:srgbClr val="CC9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3"/>
          <p:cNvSpPr/>
          <p:nvPr/>
        </p:nvSpPr>
        <p:spPr>
          <a:xfrm>
            <a:off x="6766560" y="2377440"/>
            <a:ext cx="4480560" cy="2651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AF3F8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EAF3F8"/>
                </a:solidFill>
                <a:latin typeface="Arial"/>
                <a:ea typeface="Arial"/>
                <a:cs typeface="Arial"/>
                <a:sym typeface="Arial"/>
              </a:rPr>
              <a:t>Tamanho do conjunto: 1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AF3F8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EAF3F8"/>
                </a:solidFill>
                <a:latin typeface="Arial"/>
                <a:ea typeface="Arial"/>
                <a:cs typeface="Arial"/>
                <a:sym typeface="Arial"/>
              </a:rPr>
              <a:t>Metáfora: uma caixa que contém uma folha de papel em branco — há algo lá dentro, mesmo que “vazio”.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3"/>
          <p:cNvSpPr/>
          <p:nvPr/>
        </p:nvSpPr>
        <p:spPr>
          <a:xfrm>
            <a:off x="6537960" y="1783080"/>
            <a:ext cx="4937760" cy="3383280"/>
          </a:xfrm>
          <a:prstGeom prst="rect">
            <a:avLst/>
          </a:prstGeom>
          <a:noFill/>
          <a:ln cap="flat" cmpd="sng" w="19050">
            <a:solidFill>
              <a:srgbClr val="CC9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98AC1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grid_dark.png" id="289" name="Google Shape;28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320040"/>
            <a:ext cx="11551615" cy="621792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14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noFill/>
          <a:ln cap="flat" cmpd="sng" w="25400">
            <a:solidFill>
              <a:srgbClr val="398A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4"/>
          <p:cNvSpPr/>
          <p:nvPr/>
        </p:nvSpPr>
        <p:spPr>
          <a:xfrm>
            <a:off x="685800" y="502920"/>
            <a:ext cx="10789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CBEA"/>
              </a:buClr>
              <a:buSzPts val="2600"/>
              <a:buFont typeface="Arial"/>
              <a:buNone/>
            </a:pPr>
            <a:r>
              <a:rPr b="1" lang="en-US" sz="2600">
                <a:solidFill>
                  <a:srgbClr val="7FCBEA"/>
                </a:solidFill>
                <a:latin typeface="Arial"/>
                <a:ea typeface="Arial"/>
                <a:cs typeface="Arial"/>
                <a:sym typeface="Arial"/>
              </a:rPr>
              <a:t>Laboratório Prático: Instrução por Pares (10 min)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4"/>
          <p:cNvSpPr/>
          <p:nvPr/>
        </p:nvSpPr>
        <p:spPr>
          <a:xfrm>
            <a:off x="685800" y="1143000"/>
            <a:ext cx="10789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3F8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EAF3F8"/>
                </a:solidFill>
                <a:latin typeface="Arial"/>
                <a:ea typeface="Arial"/>
                <a:cs typeface="Arial"/>
                <a:sym typeface="Arial"/>
              </a:rPr>
              <a:t>Analise as questões abaixo. Vote individualmente, discuta com sua dupla, e vote novamente.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4"/>
          <p:cNvSpPr/>
          <p:nvPr/>
        </p:nvSpPr>
        <p:spPr>
          <a:xfrm>
            <a:off x="2175229" y="2057400"/>
            <a:ext cx="3383280" cy="3291840"/>
          </a:xfrm>
          <a:prstGeom prst="rect">
            <a:avLst/>
          </a:prstGeom>
          <a:noFill/>
          <a:ln cap="flat" cmpd="sng" w="19050">
            <a:solidFill>
              <a:srgbClr val="5BB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4"/>
          <p:cNvSpPr/>
          <p:nvPr/>
        </p:nvSpPr>
        <p:spPr>
          <a:xfrm>
            <a:off x="2156381" y="2057400"/>
            <a:ext cx="502920" cy="502920"/>
          </a:xfrm>
          <a:prstGeom prst="rect">
            <a:avLst/>
          </a:prstGeom>
          <a:solidFill>
            <a:srgbClr val="5BB8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4"/>
          <p:cNvSpPr/>
          <p:nvPr/>
        </p:nvSpPr>
        <p:spPr>
          <a:xfrm>
            <a:off x="2175229" y="205740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C4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132C4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4"/>
          <p:cNvSpPr/>
          <p:nvPr/>
        </p:nvSpPr>
        <p:spPr>
          <a:xfrm>
            <a:off x="2769589" y="2057400"/>
            <a:ext cx="2697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Arial"/>
              <a:buNone/>
            </a:pPr>
            <a:r>
              <a:rPr b="1" lang="en-US" sz="16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Notação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4"/>
          <p:cNvSpPr/>
          <p:nvPr/>
        </p:nvSpPr>
        <p:spPr>
          <a:xfrm>
            <a:off x="2403829" y="2743200"/>
            <a:ext cx="292608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AF3F8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EAF3F8"/>
                </a:solidFill>
                <a:latin typeface="Arial"/>
                <a:ea typeface="Arial"/>
                <a:cs typeface="Arial"/>
                <a:sym typeface="Arial"/>
              </a:rPr>
              <a:t>Se Σ = {0, 1}, qual das opções pertence a Σ⁺ mas NÃO pertence a Σ*?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AF3F8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EAF3F8"/>
                </a:solidFill>
                <a:latin typeface="Arial"/>
                <a:ea typeface="Arial"/>
                <a:cs typeface="Arial"/>
                <a:sym typeface="Arial"/>
              </a:rPr>
              <a:t>(Alerta de pegadinha conceitual)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4"/>
          <p:cNvSpPr/>
          <p:nvPr/>
        </p:nvSpPr>
        <p:spPr>
          <a:xfrm>
            <a:off x="5832829" y="2057400"/>
            <a:ext cx="3383280" cy="3291840"/>
          </a:xfrm>
          <a:prstGeom prst="rect">
            <a:avLst/>
          </a:prstGeom>
          <a:noFill/>
          <a:ln cap="flat" cmpd="sng" w="19050">
            <a:solidFill>
              <a:srgbClr val="5BB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4"/>
          <p:cNvSpPr/>
          <p:nvPr/>
        </p:nvSpPr>
        <p:spPr>
          <a:xfrm>
            <a:off x="5832829" y="2057400"/>
            <a:ext cx="502920" cy="502920"/>
          </a:xfrm>
          <a:prstGeom prst="rect">
            <a:avLst/>
          </a:prstGeom>
          <a:solidFill>
            <a:srgbClr val="5BB8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4"/>
          <p:cNvSpPr/>
          <p:nvPr/>
        </p:nvSpPr>
        <p:spPr>
          <a:xfrm>
            <a:off x="5813981" y="205740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C4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132C4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4"/>
          <p:cNvSpPr/>
          <p:nvPr/>
        </p:nvSpPr>
        <p:spPr>
          <a:xfrm>
            <a:off x="6427189" y="2057400"/>
            <a:ext cx="2697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Arial"/>
              <a:buNone/>
            </a:pPr>
            <a:r>
              <a:rPr b="1" lang="en-US" sz="16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Operação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4"/>
          <p:cNvSpPr/>
          <p:nvPr/>
        </p:nvSpPr>
        <p:spPr>
          <a:xfrm>
            <a:off x="6061429" y="2743200"/>
            <a:ext cx="292608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AF3F8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EAF3F8"/>
                </a:solidFill>
                <a:latin typeface="Arial"/>
                <a:ea typeface="Arial"/>
                <a:cs typeface="Arial"/>
                <a:sym typeface="Arial"/>
              </a:rPr>
              <a:t>Dados L₁ = {a, b} e L₂ = {ε, c}, qual é a linguagem resultante da concatenação L₁L₂?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4"/>
          <p:cNvSpPr/>
          <p:nvPr/>
        </p:nvSpPr>
        <p:spPr>
          <a:xfrm>
            <a:off x="8001000" y="205740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C4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132C4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98AC1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grid_dark.png" id="309" name="Google Shape;30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320040"/>
            <a:ext cx="11551615" cy="621792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15"/>
          <p:cNvSpPr/>
          <p:nvPr/>
        </p:nvSpPr>
        <p:spPr>
          <a:xfrm>
            <a:off x="259228" y="320040"/>
            <a:ext cx="11551500" cy="6217800"/>
          </a:xfrm>
          <a:prstGeom prst="rect">
            <a:avLst/>
          </a:prstGeom>
          <a:noFill/>
          <a:ln cap="flat" cmpd="sng" w="25400">
            <a:solidFill>
              <a:srgbClr val="398A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5"/>
          <p:cNvSpPr/>
          <p:nvPr/>
        </p:nvSpPr>
        <p:spPr>
          <a:xfrm>
            <a:off x="685800" y="502920"/>
            <a:ext cx="10789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CBEA"/>
              </a:buClr>
              <a:buSzPts val="2600"/>
              <a:buFont typeface="Arial"/>
              <a:buNone/>
            </a:pPr>
            <a:r>
              <a:rPr b="1" lang="en-US" sz="2600">
                <a:solidFill>
                  <a:srgbClr val="7FCBEA"/>
                </a:solidFill>
                <a:latin typeface="Arial"/>
                <a:ea typeface="Arial"/>
                <a:cs typeface="Arial"/>
                <a:sym typeface="Arial"/>
              </a:rPr>
              <a:t>Desafios para Casa: Consolidando a Arquitetura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5"/>
          <p:cNvSpPr/>
          <p:nvPr/>
        </p:nvSpPr>
        <p:spPr>
          <a:xfrm>
            <a:off x="685800" y="1143000"/>
            <a:ext cx="10789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3F8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EAF3F8"/>
                </a:solidFill>
                <a:latin typeface="Arial"/>
                <a:ea typeface="Arial"/>
                <a:cs typeface="Arial"/>
                <a:sym typeface="Arial"/>
              </a:rPr>
              <a:t>Três desafios para aplicar os modelos mentais construídos hoje: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5"/>
          <p:cNvSpPr/>
          <p:nvPr/>
        </p:nvSpPr>
        <p:spPr>
          <a:xfrm>
            <a:off x="685800" y="2057400"/>
            <a:ext cx="3383280" cy="3291840"/>
          </a:xfrm>
          <a:prstGeom prst="rect">
            <a:avLst/>
          </a:prstGeom>
          <a:noFill/>
          <a:ln cap="flat" cmpd="sng" w="19050">
            <a:solidFill>
              <a:srgbClr val="5BB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5"/>
          <p:cNvSpPr/>
          <p:nvPr/>
        </p:nvSpPr>
        <p:spPr>
          <a:xfrm>
            <a:off x="685800" y="2057400"/>
            <a:ext cx="502920" cy="502920"/>
          </a:xfrm>
          <a:prstGeom prst="rect">
            <a:avLst/>
          </a:prstGeom>
          <a:solidFill>
            <a:srgbClr val="5BB8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5"/>
          <p:cNvSpPr/>
          <p:nvPr/>
        </p:nvSpPr>
        <p:spPr>
          <a:xfrm>
            <a:off x="685800" y="205740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C4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132C4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5"/>
          <p:cNvSpPr/>
          <p:nvPr/>
        </p:nvSpPr>
        <p:spPr>
          <a:xfrm>
            <a:off x="1280160" y="2057400"/>
            <a:ext cx="2697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Arial"/>
              <a:buNone/>
            </a:pPr>
            <a:r>
              <a:rPr b="1" lang="en-US" sz="16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Reflexão de Infinitude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5"/>
          <p:cNvSpPr/>
          <p:nvPr/>
        </p:nvSpPr>
        <p:spPr>
          <a:xfrm>
            <a:off x="914400" y="2743200"/>
            <a:ext cx="292608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AF3F8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EAF3F8"/>
                </a:solidFill>
                <a:latin typeface="Arial"/>
                <a:ea typeface="Arial"/>
                <a:cs typeface="Arial"/>
                <a:sym typeface="Arial"/>
              </a:rPr>
              <a:t>Todo alfabeto Σ é, por definição, um conjunto finito. Demonstre, usando a definição indutiva de concatenação, por que Σ* é inevitavelmente infinito.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5"/>
          <p:cNvSpPr/>
          <p:nvPr/>
        </p:nvSpPr>
        <p:spPr>
          <a:xfrm>
            <a:off x="4343400" y="2057400"/>
            <a:ext cx="3383280" cy="3291840"/>
          </a:xfrm>
          <a:prstGeom prst="rect">
            <a:avLst/>
          </a:prstGeom>
          <a:noFill/>
          <a:ln cap="flat" cmpd="sng" w="19050">
            <a:solidFill>
              <a:srgbClr val="5BB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5"/>
          <p:cNvSpPr/>
          <p:nvPr/>
        </p:nvSpPr>
        <p:spPr>
          <a:xfrm>
            <a:off x="4343400" y="2057400"/>
            <a:ext cx="502920" cy="502920"/>
          </a:xfrm>
          <a:prstGeom prst="rect">
            <a:avLst/>
          </a:prstGeom>
          <a:solidFill>
            <a:srgbClr val="5BB8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5"/>
          <p:cNvSpPr/>
          <p:nvPr/>
        </p:nvSpPr>
        <p:spPr>
          <a:xfrm>
            <a:off x="4343400" y="205740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C4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132C4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5"/>
          <p:cNvSpPr/>
          <p:nvPr/>
        </p:nvSpPr>
        <p:spPr>
          <a:xfrm>
            <a:off x="4937760" y="2057400"/>
            <a:ext cx="2697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Arial"/>
              <a:buNone/>
            </a:pPr>
            <a:r>
              <a:rPr b="1" lang="en-US" sz="16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Lógica de Complemento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5"/>
          <p:cNvSpPr/>
          <p:nvPr/>
        </p:nvSpPr>
        <p:spPr>
          <a:xfrm>
            <a:off x="4572000" y="2743200"/>
            <a:ext cx="292608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AF3F8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EAF3F8"/>
                </a:solidFill>
                <a:latin typeface="Arial"/>
                <a:ea typeface="Arial"/>
                <a:cs typeface="Arial"/>
                <a:sym typeface="Arial"/>
              </a:rPr>
              <a:t>Descreva formalmente o complemento da linguagem definida como “Todas as cadeias binárias terminadas no sufixo 00”.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5"/>
          <p:cNvSpPr/>
          <p:nvPr/>
        </p:nvSpPr>
        <p:spPr>
          <a:xfrm>
            <a:off x="8001000" y="2057400"/>
            <a:ext cx="3383280" cy="3291840"/>
          </a:xfrm>
          <a:prstGeom prst="rect">
            <a:avLst/>
          </a:prstGeom>
          <a:noFill/>
          <a:ln cap="flat" cmpd="sng" w="19050">
            <a:solidFill>
              <a:srgbClr val="5BB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5"/>
          <p:cNvSpPr/>
          <p:nvPr/>
        </p:nvSpPr>
        <p:spPr>
          <a:xfrm>
            <a:off x="8001000" y="2057400"/>
            <a:ext cx="502920" cy="502920"/>
          </a:xfrm>
          <a:prstGeom prst="rect">
            <a:avLst/>
          </a:prstGeom>
          <a:solidFill>
            <a:srgbClr val="5BB8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5"/>
          <p:cNvSpPr/>
          <p:nvPr/>
        </p:nvSpPr>
        <p:spPr>
          <a:xfrm>
            <a:off x="8001000" y="205740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C4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132C4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5"/>
          <p:cNvSpPr/>
          <p:nvPr/>
        </p:nvSpPr>
        <p:spPr>
          <a:xfrm>
            <a:off x="8595360" y="2057400"/>
            <a:ext cx="2697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Arial"/>
              <a:buNone/>
            </a:pPr>
            <a:r>
              <a:rPr b="1" lang="en-US" sz="16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Aplicação em Compiladores (Aho, 2007)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5"/>
          <p:cNvSpPr/>
          <p:nvPr/>
        </p:nvSpPr>
        <p:spPr>
          <a:xfrm>
            <a:off x="8229600" y="2743200"/>
            <a:ext cx="292608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AF3F8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EAF3F8"/>
                </a:solidFill>
                <a:latin typeface="Arial"/>
                <a:ea typeface="Arial"/>
                <a:cs typeface="Arial"/>
                <a:sym typeface="Arial"/>
              </a:rPr>
              <a:t>Escreva a expressão que gera a linguagem dos identificadores (nomes de variáveis) válidos em JAVA (começa com letra, seguida de zero ou mais letras/dígitos).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98AC1"/>
        </a:solidFill>
      </p:bgPr>
    </p:bg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grid_dark.png" id="333" name="Google Shape;33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320040"/>
            <a:ext cx="11551615" cy="6217920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16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noFill/>
          <a:ln cap="flat" cmpd="sng" w="25400">
            <a:solidFill>
              <a:srgbClr val="398A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6"/>
          <p:cNvSpPr/>
          <p:nvPr/>
        </p:nvSpPr>
        <p:spPr>
          <a:xfrm>
            <a:off x="685800" y="502920"/>
            <a:ext cx="10789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CBEA"/>
              </a:buClr>
              <a:buSzPts val="2600"/>
              <a:buFont typeface="Arial"/>
              <a:buNone/>
            </a:pPr>
            <a:r>
              <a:rPr b="1" lang="en-US" sz="2600">
                <a:solidFill>
                  <a:srgbClr val="7FCBEA"/>
                </a:solidFill>
                <a:latin typeface="Arial"/>
                <a:ea typeface="Arial"/>
                <a:cs typeface="Arial"/>
                <a:sym typeface="Arial"/>
              </a:rPr>
              <a:t>Referências Bibliográficas e Leituras Recomendadas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6"/>
          <p:cNvSpPr/>
          <p:nvPr/>
        </p:nvSpPr>
        <p:spPr>
          <a:xfrm>
            <a:off x="685800" y="1371600"/>
            <a:ext cx="10835640" cy="3566160"/>
          </a:xfrm>
          <a:prstGeom prst="rect">
            <a:avLst/>
          </a:prstGeom>
          <a:noFill/>
          <a:ln cap="flat" cmpd="sng" w="19050">
            <a:solidFill>
              <a:srgbClr val="5BB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6"/>
          <p:cNvSpPr/>
          <p:nvPr/>
        </p:nvSpPr>
        <p:spPr>
          <a:xfrm>
            <a:off x="1005840" y="1645920"/>
            <a:ext cx="1019556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7FCBEA"/>
              </a:buClr>
              <a:buSzPts val="1450"/>
              <a:buFont typeface="Arial"/>
              <a:buNone/>
            </a:pPr>
            <a:r>
              <a:rPr b="1" lang="en-US" sz="1450">
                <a:solidFill>
                  <a:srgbClr val="7FCBEA"/>
                </a:solidFill>
                <a:latin typeface="Arial"/>
                <a:ea typeface="Arial"/>
                <a:cs typeface="Arial"/>
                <a:sym typeface="Arial"/>
              </a:rPr>
              <a:t>Base Teórica: </a:t>
            </a:r>
            <a:r>
              <a:rPr lang="en-US" sz="1450">
                <a:solidFill>
                  <a:srgbClr val="EAF3F8"/>
                </a:solidFill>
                <a:latin typeface="Arial"/>
                <a:ea typeface="Arial"/>
                <a:cs typeface="Arial"/>
                <a:sym typeface="Arial"/>
              </a:rPr>
              <a:t>MENEZES, Paulo Blauth. Linguagens Formais e Autômatos, 6ª edição. Porto Alegre: Bookman, 2011. (Capítulo 2: Linguagens e Gramáticas).</a:t>
            </a:r>
            <a:endParaRPr/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 u="sng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https://integrada.minhabiblioteca.com.br/reader/books/9788577807994/pageid/9</a:t>
            </a:r>
            <a:endParaRPr sz="14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7FCBEA"/>
              </a:buClr>
              <a:buSzPts val="1450"/>
              <a:buFont typeface="Arial"/>
              <a:buNone/>
            </a:pPr>
            <a:r>
              <a:rPr b="1" lang="en-US" sz="1450">
                <a:solidFill>
                  <a:srgbClr val="7FCBEA"/>
                </a:solidFill>
                <a:latin typeface="Arial"/>
                <a:ea typeface="Arial"/>
                <a:cs typeface="Arial"/>
                <a:sym typeface="Arial"/>
              </a:rPr>
              <a:t>Aplicação Prática: </a:t>
            </a:r>
            <a:r>
              <a:rPr lang="en-US" sz="1450">
                <a:solidFill>
                  <a:srgbClr val="EAF3F8"/>
                </a:solidFill>
                <a:latin typeface="Arial"/>
                <a:ea typeface="Arial"/>
                <a:cs typeface="Arial"/>
                <a:sym typeface="Arial"/>
              </a:rPr>
              <a:t>AHO, Alfred V. et al. Compiladores: Princípios, Técnicas e Ferramentas, 2ª edição. São Paulo: Pearson Addison-Wesley, 2007. (Capítulo 1 e 3).</a:t>
            </a:r>
            <a:endParaRPr/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Font typeface="Calibri"/>
              <a:buNone/>
            </a:pPr>
            <a:r>
              <a:t/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7FCBEA"/>
              </a:buClr>
              <a:buSzPts val="1450"/>
              <a:buFont typeface="Arial"/>
              <a:buNone/>
            </a:pPr>
            <a:r>
              <a:rPr b="1" lang="en-US" sz="1450">
                <a:solidFill>
                  <a:srgbClr val="7FCBEA"/>
                </a:solidFill>
                <a:latin typeface="Arial"/>
                <a:ea typeface="Arial"/>
                <a:cs typeface="Arial"/>
                <a:sym typeface="Arial"/>
              </a:rPr>
              <a:t>Diretrizes: </a:t>
            </a:r>
            <a:r>
              <a:rPr lang="en-US" sz="1450">
                <a:solidFill>
                  <a:srgbClr val="EAF3F8"/>
                </a:solidFill>
                <a:latin typeface="Arial"/>
                <a:ea typeface="Arial"/>
                <a:cs typeface="Arial"/>
                <a:sym typeface="Arial"/>
              </a:rPr>
              <a:t>Plano de Ensino da disciplina de Linguagens Formais e Compiladores – UNIJUÍ.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7FCBEA"/>
              </a:buClr>
              <a:buSzPts val="1450"/>
              <a:buFont typeface="Arial"/>
              <a:buNone/>
            </a:pPr>
            <a:r>
              <a:rPr b="1" lang="en-US" sz="1450">
                <a:solidFill>
                  <a:srgbClr val="7FCBEA"/>
                </a:solidFill>
                <a:latin typeface="Arial"/>
                <a:ea typeface="Arial"/>
                <a:cs typeface="Arial"/>
                <a:sym typeface="Arial"/>
              </a:rPr>
              <a:t>Produção do material: </a:t>
            </a:r>
            <a:r>
              <a:rPr i="1" lang="en-US" sz="1450">
                <a:solidFill>
                  <a:srgbClr val="9FB3C4"/>
                </a:solidFill>
                <a:latin typeface="Arial"/>
                <a:ea typeface="Arial"/>
                <a:cs typeface="Arial"/>
                <a:sym typeface="Arial"/>
              </a:rPr>
              <a:t>Estruturação inicial com Gemini / NotebookLM. Revisão de conteúdo e conversão para formato editável com apoio do Claude (Anthropic).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2026-08-05T16:36:59Z</dcterms:created>
  <dc:creator>PptxGenJS</dc:creator>
</cp:coreProperties>
</file>
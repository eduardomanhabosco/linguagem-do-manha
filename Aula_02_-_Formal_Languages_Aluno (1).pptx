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GABARITO (uso do professor):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1) Nenhuma opção pode pertencer a Sigma+ sem pertencer a Sigma* — Sigma+ é subconjunto de Sigma*. É uma pegadinha: a resposta correta é 'nenhuma', pois Sigma+ ⊆ Sigma*.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2) L1L2 = {a.eps, a.c, b.eps, b.c} = {a, ac, b, bc}.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3) Se Sigma+ é infinito (enumerável), então 2^(Sigma+) tem cardinalidade não-enumerável (maior que aleph-0) — conjunto das partes de um conjunto infinito enumerável é infinito não-enumerável.</a:t>
            </a:r>
            <a:endParaRPr/>
          </a:p>
        </p:txBody>
      </p:sp>
      <p:sp>
        <p:nvSpPr>
          <p:cNvPr id="287" name="Google Shape;287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GABARITO (uso do professor):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1) Para qualquer n, w^n gera uma palavra nova por indução (w^(n+1) = w.w^n) — como não há limite superior para n, e cada potência gera ao menos uma palavra distinta (para |w|&gt;=1), Sigma* contém infinitas palavras.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2) Complemento = todas as cadeias binárias que NÃO terminam em 00, incluindo cadeias que não terminam em 0, ou terminam em apenas um 0 precedido de 1, etc.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3) L = {letra} . {letra|digito}* — em notação de expressão regular: [a-zA-Z](letra|digito)*</a:t>
            </a:r>
            <a:endParaRPr/>
          </a:p>
        </p:txBody>
      </p:sp>
      <p:sp>
        <p:nvSpPr>
          <p:cNvPr id="307" name="Google Shape;30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hyperlink" Target="https://integrada.minhabiblioteca.com.br/reader/books/9788577807994/pageid/9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dark.png" id="12" name="Google Shape;1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/>
          <p:nvPr/>
        </p:nvSpPr>
        <p:spPr>
          <a:xfrm>
            <a:off x="914400" y="2286000"/>
            <a:ext cx="10332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Aula 2: Alfabetos, Palavras,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Linguagens e Operações Fundamentais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914400" y="361188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A fundação matemática da computação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Prof. Marcos Ronaldo Melo Cavalheiro  |  UNIJUÍ – Ciência da Computação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914400" y="6108192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6B5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8FA6B5"/>
                </a:solidFill>
                <a:latin typeface="Arial"/>
                <a:ea typeface="Arial"/>
                <a:cs typeface="Arial"/>
                <a:sym typeface="Arial"/>
              </a:rPr>
              <a:t>Slides estruturados com apoio de IA generativa (Gemini / NotebookLM / Claude, Anthropic) — curadoria e revisão do professor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light.png" id="23" name="Google Shape;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F3B4D"/>
                </a:solidFill>
                <a:latin typeface="Arial"/>
                <a:ea typeface="Arial"/>
                <a:cs typeface="Arial"/>
                <a:sym typeface="Arial"/>
              </a:rPr>
              <a:t>Planejamento da Aula: Objetivos e Metodologia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685800" y="1188720"/>
            <a:ext cx="6492240" cy="457200"/>
          </a:xfrm>
          <a:prstGeom prst="rect">
            <a:avLst/>
          </a:prstGeom>
          <a:solidFill>
            <a:srgbClr val="4A7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822960" y="11887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Ao final desta aula, você será capaz de: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685800" y="1645920"/>
            <a:ext cx="6492240" cy="3154680"/>
          </a:xfrm>
          <a:prstGeom prst="rect">
            <a:avLst/>
          </a:prstGeom>
          <a:solidFill>
            <a:srgbClr val="DCE9F2"/>
          </a:solidFill>
          <a:ln cap="flat" cmpd="sng" w="12700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914400" y="1783080"/>
            <a:ext cx="603504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Diferenciar formalmente alfabeto, palavra e linguagem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Aplicar corretamente as notações Σ*, Σ⁺ e |w|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Executar as operações clássicas de conjuntos sobre linguagens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Reconhecer a diferença entre o conjunto vazio (∅) e a linguagem {ε}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7315200" y="1188720"/>
            <a:ext cx="4160520" cy="457200"/>
          </a:xfrm>
          <a:prstGeom prst="rect">
            <a:avLst/>
          </a:prstGeom>
          <a:solidFill>
            <a:srgbClr val="CC9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7452360" y="118872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Nota de Transparência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7315200" y="1645920"/>
            <a:ext cx="4160520" cy="3154680"/>
          </a:xfrm>
          <a:prstGeom prst="rect">
            <a:avLst/>
          </a:prstGeom>
          <a:solidFill>
            <a:srgbClr val="FBF1DC"/>
          </a:solidFill>
          <a:ln cap="flat" cmpd="sng" w="12700">
            <a:solidFill>
              <a:srgbClr val="CC9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7543800" y="1783080"/>
            <a:ext cx="370332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 design deste material foi estruturado com apoio de Inteligência Artificial Generativa (Gemini / NotebookLM).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Esta versão foi revisada, corrigida e convertida para formato totalmente editável com apoio do Claude (Anthropic).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Curadoria pedagógica e validação de conteúdo: do professor, em conformidade com o Plano de Ensino.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light.png" id="39" name="Google Shape;3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F3B4D"/>
                </a:solidFill>
                <a:latin typeface="Arial"/>
                <a:ea typeface="Arial"/>
                <a:cs typeface="Arial"/>
                <a:sym typeface="Arial"/>
              </a:rPr>
              <a:t>A Hierarquia Formal: De Símbolos a Universos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685800" y="114300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5B6B75"/>
                </a:solidFill>
                <a:latin typeface="Arial"/>
                <a:ea typeface="Arial"/>
                <a:cs typeface="Arial"/>
                <a:sym typeface="Arial"/>
              </a:rPr>
              <a:t>Toda a teoria da computação é construída sobre uma progressão matemática estrita.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822960" y="2057400"/>
            <a:ext cx="3017520" cy="2286000"/>
          </a:xfrm>
          <a:prstGeom prst="roundRect">
            <a:avLst>
              <a:gd fmla="val 4800" name="adj"/>
            </a:avLst>
          </a:prstGeom>
          <a:solidFill>
            <a:srgbClr val="DCE9F2"/>
          </a:solidFill>
          <a:ln cap="flat" cmpd="sng" w="19050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822960" y="2240280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4400"/>
              <a:buFont typeface="Cambria"/>
              <a:buNone/>
            </a:pPr>
            <a:r>
              <a:rPr b="1" i="1" lang="en-US" sz="4400">
                <a:solidFill>
                  <a:srgbClr val="1F3B4D"/>
                </a:solidFill>
                <a:latin typeface="Cambria"/>
                <a:ea typeface="Cambria"/>
                <a:cs typeface="Cambria"/>
                <a:sym typeface="Cambria"/>
              </a:rPr>
              <a:t>Σ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960120" y="33375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3B4D"/>
                </a:solidFill>
                <a:latin typeface="Arial"/>
                <a:ea typeface="Arial"/>
                <a:cs typeface="Arial"/>
                <a:sym typeface="Arial"/>
              </a:rPr>
              <a:t>Símbolo: O Átomo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960120" y="37490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B6B75"/>
                </a:solidFill>
                <a:latin typeface="Arial"/>
                <a:ea typeface="Arial"/>
                <a:cs typeface="Arial"/>
                <a:sym typeface="Arial"/>
              </a:rPr>
              <a:t>(A matéria-prima)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 rot="5400000">
            <a:off x="3977640" y="3017520"/>
            <a:ext cx="502920" cy="411480"/>
          </a:xfrm>
          <a:prstGeom prst="triangle">
            <a:avLst>
              <a:gd fmla="val 50000" name="adj"/>
            </a:avLst>
          </a:prstGeom>
          <a:solidFill>
            <a:srgbClr val="CC9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4617720" y="2057400"/>
            <a:ext cx="3017520" cy="2286000"/>
          </a:xfrm>
          <a:prstGeom prst="roundRect">
            <a:avLst>
              <a:gd fmla="val 4800" name="adj"/>
            </a:avLst>
          </a:prstGeom>
          <a:solidFill>
            <a:srgbClr val="DCE9F2"/>
          </a:solidFill>
          <a:ln cap="flat" cmpd="sng" w="19050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4617720" y="2240280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4400"/>
              <a:buFont typeface="Cambria"/>
              <a:buNone/>
            </a:pPr>
            <a:r>
              <a:rPr b="1" i="1" lang="en-US" sz="4400">
                <a:solidFill>
                  <a:srgbClr val="1F3B4D"/>
                </a:solidFill>
                <a:latin typeface="Cambria"/>
                <a:ea typeface="Cambria"/>
                <a:cs typeface="Cambria"/>
                <a:sym typeface="Cambria"/>
              </a:rPr>
              <a:t>w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4754880" y="33375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3B4D"/>
                </a:solidFill>
                <a:latin typeface="Arial"/>
                <a:ea typeface="Arial"/>
                <a:cs typeface="Arial"/>
                <a:sym typeface="Arial"/>
              </a:rPr>
              <a:t>Palavra: A Molécula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4754880" y="37490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B6B75"/>
                </a:solidFill>
                <a:latin typeface="Arial"/>
                <a:ea typeface="Arial"/>
                <a:cs typeface="Arial"/>
                <a:sym typeface="Arial"/>
              </a:rPr>
              <a:t>(Estruturas finitas)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 rot="5400000">
            <a:off x="7772400" y="3017520"/>
            <a:ext cx="502920" cy="411480"/>
          </a:xfrm>
          <a:prstGeom prst="triangle">
            <a:avLst>
              <a:gd fmla="val 50000" name="adj"/>
            </a:avLst>
          </a:prstGeom>
          <a:solidFill>
            <a:srgbClr val="CC9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8412480" y="2057400"/>
            <a:ext cx="3017520" cy="2286000"/>
          </a:xfrm>
          <a:prstGeom prst="roundRect">
            <a:avLst>
              <a:gd fmla="val 4800" name="adj"/>
            </a:avLst>
          </a:prstGeom>
          <a:solidFill>
            <a:srgbClr val="DCE9F2"/>
          </a:solidFill>
          <a:ln cap="flat" cmpd="sng" w="19050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8412480" y="2240280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4400"/>
              <a:buFont typeface="Cambria"/>
              <a:buNone/>
            </a:pPr>
            <a:r>
              <a:rPr b="1" i="1" lang="en-US" sz="4400">
                <a:solidFill>
                  <a:srgbClr val="1F3B4D"/>
                </a:solidFill>
                <a:latin typeface="Cambria"/>
                <a:ea typeface="Cambria"/>
                <a:cs typeface="Cambria"/>
                <a:sym typeface="Cambria"/>
              </a:rPr>
              <a:t>L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8549640" y="33375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3B4D"/>
                </a:solidFill>
                <a:latin typeface="Arial"/>
                <a:ea typeface="Arial"/>
                <a:cs typeface="Arial"/>
                <a:sym typeface="Arial"/>
              </a:rPr>
              <a:t>Linguagem: A Matéria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8549640" y="37490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5B6B75"/>
                </a:solidFill>
                <a:latin typeface="Arial"/>
                <a:ea typeface="Arial"/>
                <a:cs typeface="Arial"/>
                <a:sym typeface="Arial"/>
              </a:rPr>
              <a:t>(Conjuntos infinitos)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light.png" id="62" name="Google Shape;6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6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F3B4D"/>
                </a:solidFill>
                <a:latin typeface="Arial"/>
                <a:ea typeface="Arial"/>
                <a:cs typeface="Arial"/>
                <a:sym typeface="Arial"/>
              </a:rPr>
              <a:t>Símbolos e Alfabetos (Σ) formam a base indivisível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685800" y="114300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5B6B75"/>
                </a:solidFill>
                <a:latin typeface="Arial"/>
                <a:ea typeface="Arial"/>
                <a:cs typeface="Arial"/>
                <a:sym typeface="Arial"/>
              </a:rPr>
              <a:t>Um alfabeto, denotado por Σ, é um conjunto finito e não vazio de símbolos. Os símbolos são as entidades abstratas básicas que servem de base para todas as definições subsequentes.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685800" y="1783080"/>
            <a:ext cx="5257800" cy="457200"/>
          </a:xfrm>
          <a:prstGeom prst="rect">
            <a:avLst/>
          </a:prstGeom>
          <a:solidFill>
            <a:srgbClr val="4A7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822960" y="1783080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Alfabetos Válidos (Finitos)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685800" y="2240280"/>
            <a:ext cx="5257800" cy="3154680"/>
          </a:xfrm>
          <a:prstGeom prst="rect">
            <a:avLst/>
          </a:prstGeom>
          <a:solidFill>
            <a:srgbClr val="DCE9F2"/>
          </a:solidFill>
          <a:ln cap="flat" cmpd="sng" w="12700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914400" y="2377440"/>
            <a:ext cx="480060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Σ_binário = {0, 1}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Σ_letras = {a, b, c}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Σ_Pascal = Letras ∪ Dígitos ∪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Operadores {+, -, *, /}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∪ Caracteres Especiais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6172200" y="1783080"/>
            <a:ext cx="5257800" cy="457200"/>
          </a:xfrm>
          <a:prstGeom prst="rect">
            <a:avLst/>
          </a:prstGeom>
          <a:solidFill>
            <a:srgbClr val="CC9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6309360" y="1783080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Contraexemplos (Inválidos)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6172200" y="2240280"/>
            <a:ext cx="5257800" cy="3154680"/>
          </a:xfrm>
          <a:prstGeom prst="rect">
            <a:avLst/>
          </a:prstGeom>
          <a:solidFill>
            <a:srgbClr val="FBF1DC"/>
          </a:solidFill>
          <a:ln cap="flat" cmpd="sng" w="12700">
            <a:solidFill>
              <a:srgbClr val="CC9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6400800" y="2377440"/>
            <a:ext cx="480060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⚠  O conjunto dos Números Naturais (ℕ) não é um alfabeto, pois é infinito.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⚠  O conjunto Vazio (∅) não pode ser um alfabeto.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light.png" id="79" name="Google Shape;7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7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F3B4D"/>
                </a:solidFill>
                <a:latin typeface="Arial"/>
                <a:ea typeface="Arial"/>
                <a:cs typeface="Arial"/>
                <a:sym typeface="Arial"/>
              </a:rPr>
              <a:t>Palavras (w) e o domínio do Comprimento (|w|)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685800" y="114300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5B6B75"/>
                </a:solidFill>
                <a:latin typeface="Arial"/>
                <a:ea typeface="Arial"/>
                <a:cs typeface="Arial"/>
                <a:sym typeface="Arial"/>
              </a:rPr>
              <a:t>Uma palavra (ou cadeia) sobre um alfabeto é uma sequência finita de símbolos justapostos. A função comprimento, denotada por |w|, conta o número de símbolos. Domínio em Σ*, codomínio em ℕ.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685800" y="2011680"/>
            <a:ext cx="5212080" cy="1371600"/>
          </a:xfrm>
          <a:prstGeom prst="rect">
            <a:avLst/>
          </a:prstGeom>
          <a:solidFill>
            <a:srgbClr val="F4F8FB"/>
          </a:solidFill>
          <a:ln cap="flat" cmpd="sng" w="19050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685800" y="2011680"/>
            <a:ext cx="52120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3200"/>
              <a:buFont typeface="Consolas"/>
              <a:buNone/>
            </a:pPr>
            <a:r>
              <a:rPr b="1" lang="en-US" sz="3200">
                <a:solidFill>
                  <a:srgbClr val="1F3B4D"/>
                </a:solidFill>
                <a:latin typeface="Consolas"/>
                <a:ea typeface="Consolas"/>
                <a:cs typeface="Consolas"/>
                <a:sym typeface="Consolas"/>
              </a:rPr>
              <a:t>| abcb |  =  4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6172200" y="1783080"/>
            <a:ext cx="5257800" cy="457200"/>
          </a:xfrm>
          <a:prstGeom prst="rect">
            <a:avLst/>
          </a:prstGeom>
          <a:solidFill>
            <a:srgbClr val="CC9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6309360" y="1783080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Introduzindo a Cadeia Vazia: ε (Epsilon)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6172200" y="2240280"/>
            <a:ext cx="5257800" cy="3154680"/>
          </a:xfrm>
          <a:prstGeom prst="rect">
            <a:avLst/>
          </a:prstGeom>
          <a:solidFill>
            <a:srgbClr val="FBF1DC"/>
          </a:solidFill>
          <a:ln cap="flat" cmpd="sng" w="12700">
            <a:solidFill>
              <a:srgbClr val="CC9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6400800" y="2377440"/>
            <a:ext cx="480060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É uma cadeia sem símbolos. Pense nela como o “zero” da adição ou a string vazia "" na programação.</a:t>
            </a:r>
            <a:b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6720840" y="3931920"/>
            <a:ext cx="4160520" cy="1005840"/>
          </a:xfrm>
          <a:prstGeom prst="rect">
            <a:avLst/>
          </a:prstGeom>
          <a:solidFill>
            <a:srgbClr val="F4F8FB"/>
          </a:solidFill>
          <a:ln cap="flat" cmpd="sng" w="19050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6720840" y="3931920"/>
            <a:ext cx="4160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2600"/>
              <a:buFont typeface="Consolas"/>
              <a:buNone/>
            </a:pPr>
            <a:r>
              <a:rPr b="1" lang="en-US" sz="2600">
                <a:solidFill>
                  <a:srgbClr val="1F3B4D"/>
                </a:solidFill>
                <a:latin typeface="Consolas"/>
                <a:ea typeface="Consolas"/>
                <a:cs typeface="Consolas"/>
                <a:sym typeface="Consolas"/>
              </a:rPr>
              <a:t>| ε |  =  0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light.png" id="96" name="Google Shape;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8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F3B4D"/>
                </a:solidFill>
                <a:latin typeface="Arial"/>
                <a:ea typeface="Arial"/>
                <a:cs typeface="Arial"/>
                <a:sym typeface="Arial"/>
              </a:rPr>
              <a:t>Dissecando a anatomia de uma palavra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685800" y="114300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5B6B75"/>
                </a:solidFill>
                <a:latin typeface="Arial"/>
                <a:ea typeface="Arial"/>
                <a:cs typeface="Arial"/>
                <a:sym typeface="Arial"/>
              </a:rPr>
              <a:t>Qualquer prefixo ou sufixo também é considerado uma subpalavra. A palavra vazia (ε) e a própria palavra são sempre prefixos e sufixos válidos.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4206240" y="2788920"/>
            <a:ext cx="960120" cy="914400"/>
          </a:xfrm>
          <a:prstGeom prst="rect">
            <a:avLst/>
          </a:prstGeom>
          <a:solidFill>
            <a:srgbClr val="4A7FA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8"/>
          <p:cNvSpPr/>
          <p:nvPr/>
        </p:nvSpPr>
        <p:spPr>
          <a:xfrm>
            <a:off x="4206240" y="2788920"/>
            <a:ext cx="960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onsolas"/>
              <a:buNone/>
            </a:pPr>
            <a:r>
              <a:rPr b="1" lang="en-US" sz="3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5166360" y="2788920"/>
            <a:ext cx="960120" cy="914400"/>
          </a:xfrm>
          <a:prstGeom prst="rect">
            <a:avLst/>
          </a:prstGeom>
          <a:solidFill>
            <a:srgbClr val="4A7FA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5166360" y="2788920"/>
            <a:ext cx="960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onsolas"/>
              <a:buNone/>
            </a:pPr>
            <a:r>
              <a:rPr b="1" lang="en-US" sz="3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6126480" y="2788920"/>
            <a:ext cx="960120" cy="914400"/>
          </a:xfrm>
          <a:prstGeom prst="rect">
            <a:avLst/>
          </a:prstGeom>
          <a:solidFill>
            <a:srgbClr val="4A7FA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/>
          <p:cNvSpPr/>
          <p:nvPr/>
        </p:nvSpPr>
        <p:spPr>
          <a:xfrm>
            <a:off x="6126480" y="2788920"/>
            <a:ext cx="960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onsolas"/>
              <a:buNone/>
            </a:pPr>
            <a:r>
              <a:rPr b="1" lang="en-US" sz="3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7086600" y="2788920"/>
            <a:ext cx="960120" cy="914400"/>
          </a:xfrm>
          <a:prstGeom prst="rect">
            <a:avLst/>
          </a:prstGeom>
          <a:solidFill>
            <a:srgbClr val="4A7FA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"/>
          <p:cNvSpPr/>
          <p:nvPr/>
        </p:nvSpPr>
        <p:spPr>
          <a:xfrm>
            <a:off x="7086600" y="2788920"/>
            <a:ext cx="960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onsolas"/>
              <a:buNone/>
            </a:pPr>
            <a:r>
              <a:rPr b="1" lang="en-US" sz="3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685800" y="1783080"/>
            <a:ext cx="3246120" cy="457200"/>
          </a:xfrm>
          <a:prstGeom prst="rect">
            <a:avLst/>
          </a:prstGeom>
          <a:solidFill>
            <a:srgbClr val="4A7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8"/>
          <p:cNvSpPr/>
          <p:nvPr/>
        </p:nvSpPr>
        <p:spPr>
          <a:xfrm>
            <a:off x="822960" y="178308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Prefixos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685800" y="2240280"/>
            <a:ext cx="3246120" cy="3154680"/>
          </a:xfrm>
          <a:prstGeom prst="rect">
            <a:avLst/>
          </a:prstGeom>
          <a:solidFill>
            <a:srgbClr val="DCE9F2"/>
          </a:solidFill>
          <a:ln cap="flat" cmpd="sng" w="12700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"/>
          <p:cNvSpPr/>
          <p:nvPr/>
        </p:nvSpPr>
        <p:spPr>
          <a:xfrm>
            <a:off x="914400" y="2377440"/>
            <a:ext cx="278892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ε  (vazio)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ab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abc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abcb  (a própria palavra)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8275320" y="1783080"/>
            <a:ext cx="3246120" cy="457200"/>
          </a:xfrm>
          <a:prstGeom prst="rect">
            <a:avLst/>
          </a:prstGeom>
          <a:solidFill>
            <a:srgbClr val="B05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"/>
          <p:cNvSpPr/>
          <p:nvPr/>
        </p:nvSpPr>
        <p:spPr>
          <a:xfrm>
            <a:off x="8412480" y="178308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Sufixos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8275320" y="2240280"/>
            <a:ext cx="3246120" cy="3154680"/>
          </a:xfrm>
          <a:prstGeom prst="rect">
            <a:avLst/>
          </a:prstGeom>
          <a:solidFill>
            <a:srgbClr val="F7E4E3"/>
          </a:solidFill>
          <a:ln cap="flat" cmpd="sng" w="12700">
            <a:solidFill>
              <a:srgbClr val="B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8503920" y="2377440"/>
            <a:ext cx="278892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ε  (vazio)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cb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bcb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abcb  (a própria palavra)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4206240" y="384048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300"/>
              <a:buFont typeface="Arial"/>
              <a:buNone/>
            </a:pPr>
            <a:r>
              <a:rPr i="1" lang="en-US" sz="1300">
                <a:solidFill>
                  <a:srgbClr val="5B6B75"/>
                </a:solidFill>
                <a:latin typeface="Arial"/>
                <a:ea typeface="Arial"/>
                <a:cs typeface="Arial"/>
                <a:sym typeface="Arial"/>
              </a:rPr>
              <a:t>Palavra: abcb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light.png" id="122" name="Google Shape;12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9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F3B4D"/>
                </a:solidFill>
                <a:latin typeface="Arial"/>
                <a:ea typeface="Arial"/>
                <a:cs typeface="Arial"/>
                <a:sym typeface="Arial"/>
              </a:rPr>
              <a:t>A matemática das cadeias: Concatenação e Potência (wⁿ)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685800" y="114300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5B6B75"/>
                </a:solidFill>
                <a:latin typeface="Arial"/>
                <a:ea typeface="Arial"/>
                <a:cs typeface="Arial"/>
                <a:sym typeface="Arial"/>
              </a:rPr>
              <a:t>A concatenação sucessiva de uma palavra com ela mesma é representada pela potência n, definida indutivamente: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1737360" y="1965960"/>
            <a:ext cx="8686800" cy="1051560"/>
          </a:xfrm>
          <a:prstGeom prst="rect">
            <a:avLst/>
          </a:prstGeom>
          <a:solidFill>
            <a:srgbClr val="F4F8FB"/>
          </a:solidFill>
          <a:ln cap="flat" cmpd="sng" w="19050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1737360" y="1965960"/>
            <a:ext cx="8686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1800"/>
              <a:buFont typeface="Consolas"/>
              <a:buNone/>
            </a:pPr>
            <a:r>
              <a:rPr b="1" lang="en-US" sz="1800">
                <a:solidFill>
                  <a:srgbClr val="1F3B4D"/>
                </a:solidFill>
                <a:latin typeface="Consolas"/>
                <a:ea typeface="Consolas"/>
                <a:cs typeface="Consolas"/>
                <a:sym typeface="Consolas"/>
              </a:rPr>
              <a:t>Base: w⁰ = ε      Indução: wⁿ = w · wⁿ⁻¹  (n &gt; 0)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822960" y="3383280"/>
            <a:ext cx="2331720" cy="777240"/>
          </a:xfrm>
          <a:prstGeom prst="rect">
            <a:avLst/>
          </a:prstGeom>
          <a:solidFill>
            <a:srgbClr val="DCE9F2"/>
          </a:solidFill>
          <a:ln cap="flat" cmpd="sng" w="15875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"/>
          <p:cNvSpPr/>
          <p:nvPr/>
        </p:nvSpPr>
        <p:spPr>
          <a:xfrm>
            <a:off x="822960" y="338328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1700"/>
              <a:buFont typeface="Consolas"/>
              <a:buNone/>
            </a:pPr>
            <a:r>
              <a:rPr b="1" lang="en-US" sz="1700">
                <a:solidFill>
                  <a:srgbClr val="1F3B4D"/>
                </a:solidFill>
                <a:latin typeface="Consolas"/>
                <a:ea typeface="Consolas"/>
                <a:cs typeface="Consolas"/>
                <a:sym typeface="Consolas"/>
              </a:rPr>
              <a:t>a¹ = 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3383280" y="3383280"/>
            <a:ext cx="2331720" cy="777240"/>
          </a:xfrm>
          <a:prstGeom prst="rect">
            <a:avLst/>
          </a:prstGeom>
          <a:solidFill>
            <a:srgbClr val="DCE9F2"/>
          </a:solidFill>
          <a:ln cap="flat" cmpd="sng" w="15875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"/>
          <p:cNvSpPr/>
          <p:nvPr/>
        </p:nvSpPr>
        <p:spPr>
          <a:xfrm>
            <a:off x="3383280" y="338328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1700"/>
              <a:buFont typeface="Consolas"/>
              <a:buNone/>
            </a:pPr>
            <a:r>
              <a:rPr b="1" lang="en-US" sz="1700">
                <a:solidFill>
                  <a:srgbClr val="1F3B4D"/>
                </a:solidFill>
                <a:latin typeface="Consolas"/>
                <a:ea typeface="Consolas"/>
                <a:cs typeface="Consolas"/>
                <a:sym typeface="Consolas"/>
              </a:rPr>
              <a:t>a² = aa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5943600" y="3383280"/>
            <a:ext cx="2331720" cy="777240"/>
          </a:xfrm>
          <a:prstGeom prst="rect">
            <a:avLst/>
          </a:prstGeom>
          <a:solidFill>
            <a:srgbClr val="DCE9F2"/>
          </a:solidFill>
          <a:ln cap="flat" cmpd="sng" w="15875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"/>
          <p:cNvSpPr/>
          <p:nvPr/>
        </p:nvSpPr>
        <p:spPr>
          <a:xfrm>
            <a:off x="5943600" y="338328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1700"/>
              <a:buFont typeface="Consolas"/>
              <a:buNone/>
            </a:pPr>
            <a:r>
              <a:rPr b="1" lang="en-US" sz="1700">
                <a:solidFill>
                  <a:srgbClr val="1F3B4D"/>
                </a:solidFill>
                <a:latin typeface="Consolas"/>
                <a:ea typeface="Consolas"/>
                <a:cs typeface="Consolas"/>
                <a:sym typeface="Consolas"/>
              </a:rPr>
              <a:t>a³ = aaa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8503920" y="3383280"/>
            <a:ext cx="2331720" cy="777240"/>
          </a:xfrm>
          <a:prstGeom prst="rect">
            <a:avLst/>
          </a:prstGeom>
          <a:solidFill>
            <a:srgbClr val="DCE9F2"/>
          </a:solidFill>
          <a:ln cap="flat" cmpd="sng" w="15875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"/>
          <p:cNvSpPr/>
          <p:nvPr/>
        </p:nvSpPr>
        <p:spPr>
          <a:xfrm>
            <a:off x="8503920" y="3383280"/>
            <a:ext cx="2331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1700"/>
              <a:buFont typeface="Consolas"/>
              <a:buNone/>
            </a:pPr>
            <a:r>
              <a:rPr b="1" lang="en-US" sz="1700">
                <a:solidFill>
                  <a:srgbClr val="1F3B4D"/>
                </a:solidFill>
                <a:latin typeface="Consolas"/>
                <a:ea typeface="Consolas"/>
                <a:cs typeface="Consolas"/>
                <a:sym typeface="Consolas"/>
              </a:rPr>
              <a:t>a⁵ = aaaaa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822960" y="43891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300"/>
              <a:buFont typeface="Arial"/>
              <a:buNone/>
            </a:pPr>
            <a:r>
              <a:rPr i="1" lang="en-US" sz="1300">
                <a:solidFill>
                  <a:srgbClr val="5B6B75"/>
                </a:solidFill>
                <a:latin typeface="Arial"/>
                <a:ea typeface="Arial"/>
                <a:cs typeface="Arial"/>
                <a:sym typeface="Arial"/>
              </a:rPr>
              <a:t>A potência cresce sempre concatenando mais uma cópia da palavra original — o padrão indutivo se mantém para qualquer 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light.png" id="142" name="Google Shape;1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0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1F3B4D"/>
                </a:solidFill>
                <a:latin typeface="Arial"/>
                <a:ea typeface="Arial"/>
                <a:cs typeface="Arial"/>
                <a:sym typeface="Arial"/>
              </a:rPr>
              <a:t>A Matéria: O que define uma Linguagem Formal (L)?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685800" y="114300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5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5B6B75"/>
                </a:solidFill>
                <a:latin typeface="Arial"/>
                <a:ea typeface="Arial"/>
                <a:cs typeface="Arial"/>
                <a:sym typeface="Arial"/>
              </a:rPr>
              <a:t>Uma Linguagem Formal L é simplesmente um subconjunto do universo de todas as palavras possíveis formadas por um alfabeto Σ. Formalmente: L ⊆ Σ*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685800" y="1783080"/>
            <a:ext cx="5029200" cy="457200"/>
          </a:xfrm>
          <a:prstGeom prst="rect">
            <a:avLst/>
          </a:prstGeom>
          <a:solidFill>
            <a:srgbClr val="4A7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"/>
          <p:cNvSpPr/>
          <p:nvPr/>
        </p:nvSpPr>
        <p:spPr>
          <a:xfrm>
            <a:off x="822960" y="178308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Definições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685800" y="2240280"/>
            <a:ext cx="5029200" cy="3154680"/>
          </a:xfrm>
          <a:prstGeom prst="rect">
            <a:avLst/>
          </a:prstGeom>
          <a:solidFill>
            <a:srgbClr val="DCE9F2"/>
          </a:solidFill>
          <a:ln cap="flat" cmpd="sng" w="12700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"/>
          <p:cNvSpPr/>
          <p:nvPr/>
        </p:nvSpPr>
        <p:spPr>
          <a:xfrm>
            <a:off x="914400" y="2377440"/>
            <a:ext cx="457200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Σ* (Fecho de Kleene): o conjunto de TODAS as palavras possíveis, incluindo ε.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Σ⁺ (Fecho Positivo): Σ* - {ε}. Todas as palavras, exceto a vazia.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Exemplo prático: um programa válido em C é uma única palavra (longa) pertencente ao conjunto infinito “Linguagem C”.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7178040" y="1965960"/>
            <a:ext cx="3749040" cy="3200400"/>
          </a:xfrm>
          <a:prstGeom prst="ellipse">
            <a:avLst/>
          </a:prstGeom>
          <a:noFill/>
          <a:ln cap="flat" cmpd="sng" w="22225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"/>
          <p:cNvSpPr/>
          <p:nvPr/>
        </p:nvSpPr>
        <p:spPr>
          <a:xfrm>
            <a:off x="7680960" y="2377440"/>
            <a:ext cx="2743200" cy="2377440"/>
          </a:xfrm>
          <a:prstGeom prst="ellipse">
            <a:avLst/>
          </a:prstGeom>
          <a:noFill/>
          <a:ln cap="flat" cmpd="sng" w="22225">
            <a:solidFill>
              <a:srgbClr val="CC9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"/>
          <p:cNvSpPr/>
          <p:nvPr/>
        </p:nvSpPr>
        <p:spPr>
          <a:xfrm>
            <a:off x="8275320" y="3063240"/>
            <a:ext cx="1554480" cy="1005840"/>
          </a:xfrm>
          <a:prstGeom prst="ellipse">
            <a:avLst/>
          </a:prstGeom>
          <a:solidFill>
            <a:srgbClr val="B0504D">
              <a:alpha val="45098"/>
            </a:srgbClr>
          </a:solidFill>
          <a:ln cap="flat" cmpd="sng" w="19050">
            <a:solidFill>
              <a:srgbClr val="B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8686800" y="3246120"/>
            <a:ext cx="731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F3B4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7223760" y="20116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F3B4D"/>
                </a:solidFill>
                <a:latin typeface="Arial"/>
                <a:ea typeface="Arial"/>
                <a:cs typeface="Arial"/>
                <a:sym typeface="Arial"/>
              </a:rPr>
              <a:t>Σ*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7726680" y="242316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F3B4D"/>
                </a:solidFill>
                <a:latin typeface="Arial"/>
                <a:ea typeface="Arial"/>
                <a:cs typeface="Arial"/>
                <a:sym typeface="Arial"/>
              </a:rPr>
              <a:t>Σ⁺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6903720" y="3611880"/>
            <a:ext cx="91440" cy="91440"/>
          </a:xfrm>
          <a:prstGeom prst="ellipse">
            <a:avLst/>
          </a:prstGeom>
          <a:solidFill>
            <a:srgbClr val="1F3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6720840" y="37033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B4D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F3B4D"/>
                </a:solidFill>
                <a:latin typeface="Arial"/>
                <a:ea typeface="Arial"/>
                <a:cs typeface="Arial"/>
                <a:sym typeface="Arial"/>
              </a:rPr>
              <a:t>ε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dark.png" id="163" name="Google Shape;1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Operações Clássicas: Manipulando conjuntos de palavras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685800" y="114300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Como linguagens formais são conjuntos matemáticos, a Classe das Linguagens Regulares é fechada para as operações fundamentais da teoria dos conjuntos.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1645920" y="2011680"/>
            <a:ext cx="1463040" cy="1463040"/>
          </a:xfrm>
          <a:prstGeom prst="ellipse">
            <a:avLst/>
          </a:prstGeom>
          <a:solidFill>
            <a:srgbClr val="5BB8E0">
              <a:alpha val="45098"/>
            </a:srgbClr>
          </a:solidFill>
          <a:ln cap="flat" cmpd="sng" w="22225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1"/>
          <p:cNvSpPr/>
          <p:nvPr/>
        </p:nvSpPr>
        <p:spPr>
          <a:xfrm>
            <a:off x="2706624" y="2011680"/>
            <a:ext cx="1463040" cy="1463040"/>
          </a:xfrm>
          <a:prstGeom prst="ellipse">
            <a:avLst/>
          </a:prstGeom>
          <a:solidFill>
            <a:srgbClr val="5BB8E0">
              <a:alpha val="45098"/>
            </a:srgbClr>
          </a:solidFill>
          <a:ln cap="flat" cmpd="sng" w="22225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"/>
          <p:cNvSpPr/>
          <p:nvPr/>
        </p:nvSpPr>
        <p:spPr>
          <a:xfrm>
            <a:off x="1508760" y="192024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L₁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3849624" y="192024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L₂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1508760" y="3611880"/>
            <a:ext cx="26609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União (L₁ ∪ L₂)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7315200" y="2011680"/>
            <a:ext cx="1463040" cy="1463040"/>
          </a:xfrm>
          <a:prstGeom prst="ellipse">
            <a:avLst/>
          </a:prstGeom>
          <a:noFill/>
          <a:ln cap="flat" cmpd="sng" w="22225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"/>
          <p:cNvSpPr/>
          <p:nvPr/>
        </p:nvSpPr>
        <p:spPr>
          <a:xfrm>
            <a:off x="8375904" y="2011680"/>
            <a:ext cx="1463040" cy="1463040"/>
          </a:xfrm>
          <a:prstGeom prst="ellipse">
            <a:avLst/>
          </a:prstGeom>
          <a:noFill/>
          <a:ln cap="flat" cmpd="sng" w="22225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"/>
          <p:cNvSpPr/>
          <p:nvPr/>
        </p:nvSpPr>
        <p:spPr>
          <a:xfrm>
            <a:off x="8375905" y="2267276"/>
            <a:ext cx="402336" cy="941833"/>
          </a:xfrm>
          <a:prstGeom prst="ellipse">
            <a:avLst/>
          </a:prstGeom>
          <a:solidFill>
            <a:srgbClr val="B0504D">
              <a:alpha val="5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"/>
          <p:cNvSpPr/>
          <p:nvPr/>
        </p:nvSpPr>
        <p:spPr>
          <a:xfrm>
            <a:off x="7178040" y="192024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L₁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9518904" y="192024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L₂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7178040" y="3611880"/>
            <a:ext cx="26609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Interseção (L₁ ∩ L₂)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1645920" y="4343400"/>
            <a:ext cx="1463040" cy="1463040"/>
          </a:xfrm>
          <a:prstGeom prst="ellipse">
            <a:avLst/>
          </a:prstGeom>
          <a:solidFill>
            <a:srgbClr val="CC9A3A">
              <a:alpha val="85098"/>
            </a:srgbClr>
          </a:solidFill>
          <a:ln cap="flat" cmpd="sng" w="22225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"/>
          <p:cNvSpPr/>
          <p:nvPr/>
        </p:nvSpPr>
        <p:spPr>
          <a:xfrm>
            <a:off x="2706624" y="4343400"/>
            <a:ext cx="1463040" cy="1463040"/>
          </a:xfrm>
          <a:prstGeom prst="ellipse">
            <a:avLst/>
          </a:prstGeom>
          <a:solidFill>
            <a:srgbClr val="132C40"/>
          </a:solidFill>
          <a:ln cap="flat" cmpd="sng" w="22225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"/>
          <p:cNvSpPr/>
          <p:nvPr/>
        </p:nvSpPr>
        <p:spPr>
          <a:xfrm>
            <a:off x="1508760" y="4251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L₁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3849624" y="42519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L₂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1508758" y="5943600"/>
            <a:ext cx="266090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Diferença (L₁ - L₂)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7178040" y="4453128"/>
            <a:ext cx="2660904" cy="1243584"/>
          </a:xfrm>
          <a:prstGeom prst="rect">
            <a:avLst/>
          </a:prstGeom>
          <a:solidFill>
            <a:srgbClr val="5BB8E0">
              <a:alpha val="65098"/>
            </a:srgbClr>
          </a:solidFill>
          <a:ln cap="flat" cmpd="sng" w="1905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7955280" y="4453128"/>
            <a:ext cx="1243584" cy="1243584"/>
          </a:xfrm>
          <a:prstGeom prst="ellipse">
            <a:avLst/>
          </a:prstGeom>
          <a:solidFill>
            <a:srgbClr val="132C40"/>
          </a:solidFill>
          <a:ln cap="flat" cmpd="sng" w="22225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"/>
          <p:cNvSpPr/>
          <p:nvPr/>
        </p:nvSpPr>
        <p:spPr>
          <a:xfrm>
            <a:off x="8302752" y="489204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9381744" y="4407408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Σ*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7178040" y="5943600"/>
            <a:ext cx="26609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Complemento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dark.png" id="193" name="Google Shape;19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Checkpoint Rápido: Antes de Continuar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685800" y="114300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Responda mentalmente (ou com os dedos: 1, 2 ou 3) antes de seguirmos para a próxima operação.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685800" y="2057400"/>
            <a:ext cx="3383280" cy="3291840"/>
          </a:xfrm>
          <a:prstGeom prst="rect">
            <a:avLst/>
          </a:prstGeom>
          <a:noFill/>
          <a:ln cap="flat" cmpd="sng" w="1905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"/>
          <p:cNvSpPr/>
          <p:nvPr/>
        </p:nvSpPr>
        <p:spPr>
          <a:xfrm>
            <a:off x="685800" y="2057400"/>
            <a:ext cx="502920" cy="502920"/>
          </a:xfrm>
          <a:prstGeom prst="rect">
            <a:avLst/>
          </a:prstGeom>
          <a:solidFill>
            <a:srgbClr val="5BB8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2"/>
          <p:cNvSpPr/>
          <p:nvPr/>
        </p:nvSpPr>
        <p:spPr>
          <a:xfrm>
            <a:off x="685800" y="2057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C4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32C4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1280160" y="205740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Σ*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914400" y="2743200"/>
            <a:ext cx="29260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Se Σ = {0,1}, a cadeia vazia ε pertence a Σ*?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4343400" y="2057400"/>
            <a:ext cx="3383280" cy="3291840"/>
          </a:xfrm>
          <a:prstGeom prst="rect">
            <a:avLst/>
          </a:prstGeom>
          <a:noFill/>
          <a:ln cap="flat" cmpd="sng" w="1905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2"/>
          <p:cNvSpPr/>
          <p:nvPr/>
        </p:nvSpPr>
        <p:spPr>
          <a:xfrm>
            <a:off x="4343400" y="2057400"/>
            <a:ext cx="502920" cy="502920"/>
          </a:xfrm>
          <a:prstGeom prst="rect">
            <a:avLst/>
          </a:prstGeom>
          <a:solidFill>
            <a:srgbClr val="5BB8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"/>
          <p:cNvSpPr/>
          <p:nvPr/>
        </p:nvSpPr>
        <p:spPr>
          <a:xfrm>
            <a:off x="4343400" y="2057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C4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32C4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4937760" y="205740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Comprimento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4572000" y="2743200"/>
            <a:ext cx="29260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Qual o tamanho de |abcb|?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8001000" y="2057400"/>
            <a:ext cx="3383280" cy="3291840"/>
          </a:xfrm>
          <a:prstGeom prst="rect">
            <a:avLst/>
          </a:prstGeom>
          <a:noFill/>
          <a:ln cap="flat" cmpd="sng" w="1905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"/>
          <p:cNvSpPr/>
          <p:nvPr/>
        </p:nvSpPr>
        <p:spPr>
          <a:xfrm>
            <a:off x="8001000" y="2057400"/>
            <a:ext cx="502920" cy="502920"/>
          </a:xfrm>
          <a:prstGeom prst="rect">
            <a:avLst/>
          </a:prstGeom>
          <a:solidFill>
            <a:srgbClr val="5BB8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"/>
          <p:cNvSpPr/>
          <p:nvPr/>
        </p:nvSpPr>
        <p:spPr>
          <a:xfrm>
            <a:off x="8001000" y="2057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C4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32C4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8595360" y="205740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Σ⁺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8229600" y="2743200"/>
            <a:ext cx="29260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Σ⁺ inclui a palavra vazia ε? Sim ou não?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dark.png" id="217" name="Google Shape;21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3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3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A Química Avançada: Concatenação de Linguagens (L₁L₂)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685800" y="114300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Diferente da união, a concatenação funde os elementos de dois conjuntos para criar novas palavras.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2926080" y="1920240"/>
            <a:ext cx="6309360" cy="777240"/>
          </a:xfrm>
          <a:prstGeom prst="rect">
            <a:avLst/>
          </a:prstGeom>
          <a:solidFill>
            <a:srgbClr val="0E2438"/>
          </a:solidFill>
          <a:ln cap="flat" cmpd="sng" w="1905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"/>
          <p:cNvSpPr/>
          <p:nvPr/>
        </p:nvSpPr>
        <p:spPr>
          <a:xfrm>
            <a:off x="2926080" y="1920240"/>
            <a:ext cx="6309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onsolas"/>
              <a:buNone/>
            </a:pPr>
            <a:r>
              <a:rPr b="1"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L₁L₂ = {vw | v ∈ L₁, w ∈ L₂}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1828800" y="2971800"/>
            <a:ext cx="1371600" cy="1371600"/>
          </a:xfrm>
          <a:prstGeom prst="roundRect">
            <a:avLst>
              <a:gd fmla="val 6667" name="adj"/>
            </a:avLst>
          </a:prstGeom>
          <a:solidFill>
            <a:srgbClr val="0E2438"/>
          </a:solidFill>
          <a:ln cap="flat" cmpd="sng" w="1905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3"/>
          <p:cNvSpPr/>
          <p:nvPr/>
        </p:nvSpPr>
        <p:spPr>
          <a:xfrm>
            <a:off x="1828800" y="3081528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1828800" y="3685032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1051560" y="342900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L₁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8961120" y="2971800"/>
            <a:ext cx="1371600" cy="1371600"/>
          </a:xfrm>
          <a:prstGeom prst="roundRect">
            <a:avLst>
              <a:gd fmla="val 6667" name="adj"/>
            </a:avLst>
          </a:prstGeom>
          <a:solidFill>
            <a:srgbClr val="0E2438"/>
          </a:solidFill>
          <a:ln cap="flat" cmpd="sng" w="1905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3"/>
          <p:cNvSpPr/>
          <p:nvPr/>
        </p:nvSpPr>
        <p:spPr>
          <a:xfrm>
            <a:off x="8961120" y="3081528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8961120" y="3685032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10607040" y="342900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L₂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13"/>
          <p:cNvCxnSpPr/>
          <p:nvPr/>
        </p:nvCxnSpPr>
        <p:spPr>
          <a:xfrm>
            <a:off x="3200400" y="3355848"/>
            <a:ext cx="5760720" cy="9144"/>
          </a:xfrm>
          <a:prstGeom prst="straightConnector1">
            <a:avLst/>
          </a:prstGeom>
          <a:noFill/>
          <a:ln cap="flat" cmpd="sng" w="15875">
            <a:solidFill>
              <a:srgbClr val="5BB8E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2" name="Google Shape;232;p13"/>
          <p:cNvCxnSpPr/>
          <p:nvPr/>
        </p:nvCxnSpPr>
        <p:spPr>
          <a:xfrm>
            <a:off x="3200400" y="3959352"/>
            <a:ext cx="5760720" cy="9144"/>
          </a:xfrm>
          <a:prstGeom prst="straightConnector1">
            <a:avLst/>
          </a:prstGeom>
          <a:noFill/>
          <a:ln cap="flat" cmpd="sng" w="15875">
            <a:solidFill>
              <a:srgbClr val="5BB8E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3" name="Google Shape;233;p13"/>
          <p:cNvCxnSpPr/>
          <p:nvPr/>
        </p:nvCxnSpPr>
        <p:spPr>
          <a:xfrm>
            <a:off x="3200400" y="3355848"/>
            <a:ext cx="5760720" cy="603504"/>
          </a:xfrm>
          <a:prstGeom prst="straightConnector1">
            <a:avLst/>
          </a:prstGeom>
          <a:noFill/>
          <a:ln cap="flat" cmpd="sng" w="15875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13"/>
          <p:cNvCxnSpPr/>
          <p:nvPr/>
        </p:nvCxnSpPr>
        <p:spPr>
          <a:xfrm>
            <a:off x="3200400" y="3355848"/>
            <a:ext cx="5760720" cy="603504"/>
          </a:xfrm>
          <a:prstGeom prst="straightConnector1">
            <a:avLst/>
          </a:prstGeom>
          <a:noFill/>
          <a:ln cap="flat" cmpd="sng" w="15875">
            <a:solidFill>
              <a:srgbClr val="5BB8E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5" name="Google Shape;235;p13"/>
          <p:cNvSpPr/>
          <p:nvPr/>
        </p:nvSpPr>
        <p:spPr>
          <a:xfrm>
            <a:off x="3566160" y="4800600"/>
            <a:ext cx="5029200" cy="914400"/>
          </a:xfrm>
          <a:prstGeom prst="rect">
            <a:avLst/>
          </a:prstGeom>
          <a:solidFill>
            <a:srgbClr val="0E2438"/>
          </a:solidFill>
          <a:ln cap="flat" cmpd="sng" w="1905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3"/>
          <p:cNvSpPr/>
          <p:nvPr/>
        </p:nvSpPr>
        <p:spPr>
          <a:xfrm>
            <a:off x="3566160" y="480060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nsolas"/>
              <a:buNone/>
            </a:pPr>
            <a:r>
              <a:rPr b="1" lang="en-US" sz="20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L₁L₂ = {ac, ad, bc, bd}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p13"/>
          <p:cNvCxnSpPr>
            <a:stCxn id="232" idx="0"/>
            <a:endCxn id="231" idx="1"/>
          </p:cNvCxnSpPr>
          <p:nvPr/>
        </p:nvCxnSpPr>
        <p:spPr>
          <a:xfrm flipH="1" rot="10800000">
            <a:off x="3200400" y="3365052"/>
            <a:ext cx="5760600" cy="594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dark.png" id="243" name="Google Shape;24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4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4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A Máquina do Infinito: Fechamento de Kleene (L*)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685800" y="114300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O Fechamento de Kleene de uma linguagem L representa zero ou mais concatenações de L consigo mesma. É a operação unária que gera a infinitude.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4"/>
          <p:cNvSpPr/>
          <p:nvPr/>
        </p:nvSpPr>
        <p:spPr>
          <a:xfrm>
            <a:off x="2286000" y="1874520"/>
            <a:ext cx="6035040" cy="731520"/>
          </a:xfrm>
          <a:prstGeom prst="rect">
            <a:avLst/>
          </a:prstGeom>
          <a:solidFill>
            <a:srgbClr val="0E2438"/>
          </a:solidFill>
          <a:ln cap="flat" cmpd="sng" w="1905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4"/>
          <p:cNvSpPr/>
          <p:nvPr/>
        </p:nvSpPr>
        <p:spPr>
          <a:xfrm>
            <a:off x="2286000" y="1874520"/>
            <a:ext cx="6035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onsolas"/>
              <a:buNone/>
            </a:pPr>
            <a:r>
              <a:rPr b="1" lang="en-US" sz="1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L* = L⁰ ∪ L¹ ∪ L² ∪ L³ ...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914400" y="3246120"/>
            <a:ext cx="5760720" cy="2834640"/>
          </a:xfrm>
          <a:prstGeom prst="ellipse">
            <a:avLst/>
          </a:prstGeom>
          <a:noFill/>
          <a:ln cap="flat" cmpd="sng" w="22225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4"/>
          <p:cNvSpPr/>
          <p:nvPr/>
        </p:nvSpPr>
        <p:spPr>
          <a:xfrm>
            <a:off x="1828800" y="3703320"/>
            <a:ext cx="3931920" cy="1920240"/>
          </a:xfrm>
          <a:prstGeom prst="ellipse">
            <a:avLst/>
          </a:prstGeom>
          <a:noFill/>
          <a:ln cap="flat" cmpd="sng" w="22225">
            <a:solidFill>
              <a:srgbClr val="8FD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4"/>
          <p:cNvSpPr/>
          <p:nvPr/>
        </p:nvSpPr>
        <p:spPr>
          <a:xfrm>
            <a:off x="2743200" y="4096512"/>
            <a:ext cx="2103120" cy="1133856"/>
          </a:xfrm>
          <a:prstGeom prst="ellipse">
            <a:avLst/>
          </a:prstGeom>
          <a:noFill/>
          <a:ln cap="flat" cmpd="sng" w="22225">
            <a:solidFill>
              <a:srgbClr val="CDEF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4"/>
          <p:cNvSpPr/>
          <p:nvPr/>
        </p:nvSpPr>
        <p:spPr>
          <a:xfrm>
            <a:off x="3739896" y="460857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4"/>
          <p:cNvSpPr/>
          <p:nvPr/>
        </p:nvSpPr>
        <p:spPr>
          <a:xfrm>
            <a:off x="3429000" y="4773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L⁰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8503920" y="3063240"/>
            <a:ext cx="237744" cy="237744"/>
          </a:xfrm>
          <a:prstGeom prst="rect">
            <a:avLst/>
          </a:prstGeom>
          <a:noFill/>
          <a:ln cap="flat" cmpd="sng" w="2540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4"/>
          <p:cNvSpPr/>
          <p:nvPr/>
        </p:nvSpPr>
        <p:spPr>
          <a:xfrm>
            <a:off x="8915400" y="30175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L⁰  </a:t>
            </a:r>
            <a:r>
              <a:rPr lang="en-US" sz="12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= {ε}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8503920" y="3566160"/>
            <a:ext cx="237744" cy="237744"/>
          </a:xfrm>
          <a:prstGeom prst="rect">
            <a:avLst/>
          </a:prstGeom>
          <a:noFill/>
          <a:ln cap="flat" cmpd="sng" w="25400">
            <a:solidFill>
              <a:srgbClr val="8FD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"/>
          <p:cNvSpPr/>
          <p:nvPr/>
        </p:nvSpPr>
        <p:spPr>
          <a:xfrm>
            <a:off x="8915400" y="35204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L¹  </a:t>
            </a:r>
            <a:r>
              <a:rPr lang="en-US" sz="12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palavras originais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8503920" y="4069080"/>
            <a:ext cx="237744" cy="237744"/>
          </a:xfrm>
          <a:prstGeom prst="rect">
            <a:avLst/>
          </a:prstGeom>
          <a:noFill/>
          <a:ln cap="flat" cmpd="sng" w="25400">
            <a:solidFill>
              <a:srgbClr val="CDEF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4"/>
          <p:cNvSpPr/>
          <p:nvPr/>
        </p:nvSpPr>
        <p:spPr>
          <a:xfrm>
            <a:off x="8915400" y="402336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L²  </a:t>
            </a:r>
            <a:r>
              <a:rPr lang="en-US" sz="12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combinações de 2 palavras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8503920" y="4572000"/>
            <a:ext cx="237744" cy="237744"/>
          </a:xfrm>
          <a:prstGeom prst="rect">
            <a:avLst/>
          </a:prstGeom>
          <a:noFill/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4"/>
          <p:cNvSpPr/>
          <p:nvPr/>
        </p:nvSpPr>
        <p:spPr>
          <a:xfrm>
            <a:off x="8915400" y="45262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L³, L⁴ ...  </a:t>
            </a:r>
            <a:r>
              <a:rPr lang="en-US" sz="12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combinações maiores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8503920" y="5166360"/>
            <a:ext cx="3063240" cy="960120"/>
          </a:xfrm>
          <a:prstGeom prst="rect">
            <a:avLst/>
          </a:prstGeom>
          <a:solidFill>
            <a:srgbClr val="0E2438"/>
          </a:solidFill>
          <a:ln cap="flat" cmpd="sng" w="15875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4"/>
          <p:cNvSpPr/>
          <p:nvPr/>
        </p:nvSpPr>
        <p:spPr>
          <a:xfrm>
            <a:off x="8641080" y="5257800"/>
            <a:ext cx="2788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Nota: L⁺ = L* excluindo L⁰, a menos que L já contenha ε.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dark.png" id="269" name="Google Shape;26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5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5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O Grande Paradoxo: O Vazio (∅) vs. O Nada ({ε})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5"/>
          <p:cNvSpPr/>
          <p:nvPr/>
        </p:nvSpPr>
        <p:spPr>
          <a:xfrm>
            <a:off x="685800" y="114300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Em linguagens formais, há uma diferença matemática abismal entre um conjunto vazio e um conjunto que contém a palavra vazia.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685800" y="1783080"/>
            <a:ext cx="4937760" cy="457200"/>
          </a:xfrm>
          <a:prstGeom prst="rect">
            <a:avLst/>
          </a:prstGeom>
          <a:solidFill>
            <a:srgbClr val="4A7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5"/>
          <p:cNvSpPr/>
          <p:nvPr/>
        </p:nvSpPr>
        <p:spPr>
          <a:xfrm>
            <a:off x="822960" y="178308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Conjunto Vazio (∅)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685800" y="2240280"/>
            <a:ext cx="4937760" cy="2926080"/>
          </a:xfrm>
          <a:prstGeom prst="rect">
            <a:avLst/>
          </a:prstGeom>
          <a:solidFill>
            <a:srgbClr val="0E2438"/>
          </a:solidFill>
          <a:ln cap="flat" cmpd="sng" w="12700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5"/>
          <p:cNvSpPr/>
          <p:nvPr/>
        </p:nvSpPr>
        <p:spPr>
          <a:xfrm>
            <a:off x="914400" y="2377440"/>
            <a:ext cx="44805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Tamanho do conjunto: 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Metáfora: uma caixa completamente vazia — não existe nem uma palavra dentro.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685800" y="1783080"/>
            <a:ext cx="4937760" cy="3383280"/>
          </a:xfrm>
          <a:prstGeom prst="rect">
            <a:avLst/>
          </a:prstGeom>
          <a:noFill/>
          <a:ln cap="flat" cmpd="sng" w="19050">
            <a:solidFill>
              <a:srgbClr val="4A7F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5"/>
          <p:cNvSpPr/>
          <p:nvPr/>
        </p:nvSpPr>
        <p:spPr>
          <a:xfrm>
            <a:off x="5806440" y="2971800"/>
            <a:ext cx="548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9A3A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CC9A3A"/>
                </a:solidFill>
                <a:latin typeface="Arial"/>
                <a:ea typeface="Arial"/>
                <a:cs typeface="Arial"/>
                <a:sym typeface="Arial"/>
              </a:rPr>
              <a:t>≠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6537960" y="1783080"/>
            <a:ext cx="4937760" cy="457200"/>
          </a:xfrm>
          <a:prstGeom prst="rect">
            <a:avLst/>
          </a:prstGeom>
          <a:solidFill>
            <a:srgbClr val="CC9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5"/>
          <p:cNvSpPr/>
          <p:nvPr/>
        </p:nvSpPr>
        <p:spPr>
          <a:xfrm>
            <a:off x="6675120" y="178308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Linguagem com Palavra Vazia ({ε})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6537960" y="2240280"/>
            <a:ext cx="4937760" cy="2926080"/>
          </a:xfrm>
          <a:prstGeom prst="rect">
            <a:avLst/>
          </a:prstGeom>
          <a:solidFill>
            <a:srgbClr val="0E2438"/>
          </a:solidFill>
          <a:ln cap="flat" cmpd="sng" w="12700">
            <a:solidFill>
              <a:srgbClr val="CC9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5"/>
          <p:cNvSpPr/>
          <p:nvPr/>
        </p:nvSpPr>
        <p:spPr>
          <a:xfrm>
            <a:off x="6766560" y="2377440"/>
            <a:ext cx="44805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Tamanho do conjunto: 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Metáfora: uma caixa que contém uma folha de papel em branco — há algo lá dentro, mesmo que “vazio”.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6537960" y="1783080"/>
            <a:ext cx="4937760" cy="3383280"/>
          </a:xfrm>
          <a:prstGeom prst="rect">
            <a:avLst/>
          </a:prstGeom>
          <a:noFill/>
          <a:ln cap="flat" cmpd="sng" w="19050">
            <a:solidFill>
              <a:srgbClr val="CC9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dark.png" id="289" name="Google Shape;28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6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6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Laboratório Prático: Instrução por Pares (10 min)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685800" y="114300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Analise as questões abaixo. Vote individualmente, discuta com sua dupla, e vote novamente.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2175229" y="2057400"/>
            <a:ext cx="3383280" cy="3291840"/>
          </a:xfrm>
          <a:prstGeom prst="rect">
            <a:avLst/>
          </a:prstGeom>
          <a:noFill/>
          <a:ln cap="flat" cmpd="sng" w="1905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6"/>
          <p:cNvSpPr/>
          <p:nvPr/>
        </p:nvSpPr>
        <p:spPr>
          <a:xfrm>
            <a:off x="2156381" y="2057400"/>
            <a:ext cx="502920" cy="502920"/>
          </a:xfrm>
          <a:prstGeom prst="rect">
            <a:avLst/>
          </a:prstGeom>
          <a:solidFill>
            <a:srgbClr val="5BB8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6"/>
          <p:cNvSpPr/>
          <p:nvPr/>
        </p:nvSpPr>
        <p:spPr>
          <a:xfrm>
            <a:off x="2175229" y="2057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C4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32C4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2769589" y="205740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Notação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2403829" y="2743200"/>
            <a:ext cx="29260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Se Σ = {0, 1}, qual das opções pertence a Σ⁺ mas NÃO pertence a Σ*?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(Alerta de pegadinha conceitual)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5832829" y="2057400"/>
            <a:ext cx="3383280" cy="3291840"/>
          </a:xfrm>
          <a:prstGeom prst="rect">
            <a:avLst/>
          </a:prstGeom>
          <a:noFill/>
          <a:ln cap="flat" cmpd="sng" w="1905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6"/>
          <p:cNvSpPr/>
          <p:nvPr/>
        </p:nvSpPr>
        <p:spPr>
          <a:xfrm>
            <a:off x="5832829" y="2057400"/>
            <a:ext cx="502920" cy="502920"/>
          </a:xfrm>
          <a:prstGeom prst="rect">
            <a:avLst/>
          </a:prstGeom>
          <a:solidFill>
            <a:srgbClr val="5BB8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6"/>
          <p:cNvSpPr/>
          <p:nvPr/>
        </p:nvSpPr>
        <p:spPr>
          <a:xfrm>
            <a:off x="5813981" y="2057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C4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32C4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6427189" y="205740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Operação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6061429" y="2743200"/>
            <a:ext cx="29260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Dados L₁ = {a, b} e L₂ = {ε, c}, qual é a linguagem resultante da concatenação L₁L₂?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8001000" y="2057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C4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32C4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dark.png" id="309" name="Google Shape;30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7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7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Desafios para Casa: Consolidando a Arquitetura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7"/>
          <p:cNvSpPr/>
          <p:nvPr/>
        </p:nvSpPr>
        <p:spPr>
          <a:xfrm>
            <a:off x="685800" y="114300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Três desafios para aplicar os modelos mentais construídos hoje: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7"/>
          <p:cNvSpPr/>
          <p:nvPr/>
        </p:nvSpPr>
        <p:spPr>
          <a:xfrm>
            <a:off x="685800" y="2057400"/>
            <a:ext cx="3383280" cy="3291840"/>
          </a:xfrm>
          <a:prstGeom prst="rect">
            <a:avLst/>
          </a:prstGeom>
          <a:noFill/>
          <a:ln cap="flat" cmpd="sng" w="1905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7"/>
          <p:cNvSpPr/>
          <p:nvPr/>
        </p:nvSpPr>
        <p:spPr>
          <a:xfrm>
            <a:off x="685800" y="2057400"/>
            <a:ext cx="502920" cy="502920"/>
          </a:xfrm>
          <a:prstGeom prst="rect">
            <a:avLst/>
          </a:prstGeom>
          <a:solidFill>
            <a:srgbClr val="5BB8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7"/>
          <p:cNvSpPr/>
          <p:nvPr/>
        </p:nvSpPr>
        <p:spPr>
          <a:xfrm>
            <a:off x="685800" y="2057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C4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32C4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1280160" y="205740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Reflexão de Infinitude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914400" y="2743200"/>
            <a:ext cx="29260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Todo alfabeto Σ é, por definição, um conjunto finito. Demonstre, usando a definição indutiva de concatenação, por que Σ* é inevitavelmente infinito.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4343400" y="2057400"/>
            <a:ext cx="3383280" cy="3291840"/>
          </a:xfrm>
          <a:prstGeom prst="rect">
            <a:avLst/>
          </a:prstGeom>
          <a:noFill/>
          <a:ln cap="flat" cmpd="sng" w="1905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7"/>
          <p:cNvSpPr/>
          <p:nvPr/>
        </p:nvSpPr>
        <p:spPr>
          <a:xfrm>
            <a:off x="4343400" y="2057400"/>
            <a:ext cx="502920" cy="502920"/>
          </a:xfrm>
          <a:prstGeom prst="rect">
            <a:avLst/>
          </a:prstGeom>
          <a:solidFill>
            <a:srgbClr val="5BB8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7"/>
          <p:cNvSpPr/>
          <p:nvPr/>
        </p:nvSpPr>
        <p:spPr>
          <a:xfrm>
            <a:off x="4343400" y="2057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C4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32C4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4937760" y="205740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Lógica de Complemento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4572000" y="2743200"/>
            <a:ext cx="29260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Descreva formalmente o complemento da linguagem definida como “Todas as cadeias binárias terminadas no sufixo 00”.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8001000" y="2057400"/>
            <a:ext cx="3383280" cy="3291840"/>
          </a:xfrm>
          <a:prstGeom prst="rect">
            <a:avLst/>
          </a:prstGeom>
          <a:noFill/>
          <a:ln cap="flat" cmpd="sng" w="1905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7"/>
          <p:cNvSpPr/>
          <p:nvPr/>
        </p:nvSpPr>
        <p:spPr>
          <a:xfrm>
            <a:off x="8001000" y="2057400"/>
            <a:ext cx="502920" cy="502920"/>
          </a:xfrm>
          <a:prstGeom prst="rect">
            <a:avLst/>
          </a:prstGeom>
          <a:solidFill>
            <a:srgbClr val="5BB8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7"/>
          <p:cNvSpPr/>
          <p:nvPr/>
        </p:nvSpPr>
        <p:spPr>
          <a:xfrm>
            <a:off x="8001000" y="20574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C4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32C4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8595360" y="2057400"/>
            <a:ext cx="2697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Aplicação em Compiladores (Aho, 2007)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8229600" y="2743200"/>
            <a:ext cx="29260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AF3F8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Escreva a expressão que gera a linguagem dos identificadores (nomes de variáveis) válidos em JAVA (começa com letra, seguida de zero ou mais letras/dígitos).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8AC1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grid_dark.png" id="333" name="Google Shape;33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320040"/>
            <a:ext cx="1155161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8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cap="flat" cmpd="sng" w="25400">
            <a:solidFill>
              <a:srgbClr val="398A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8"/>
          <p:cNvSpPr/>
          <p:nvPr/>
        </p:nvSpPr>
        <p:spPr>
          <a:xfrm>
            <a:off x="685800" y="502920"/>
            <a:ext cx="10789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Referências Bibliográficas e Leituras Recomendadas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8"/>
          <p:cNvSpPr/>
          <p:nvPr/>
        </p:nvSpPr>
        <p:spPr>
          <a:xfrm>
            <a:off x="685800" y="1371600"/>
            <a:ext cx="10835640" cy="3566160"/>
          </a:xfrm>
          <a:prstGeom prst="rect">
            <a:avLst/>
          </a:prstGeom>
          <a:noFill/>
          <a:ln cap="flat" cmpd="sng" w="19050">
            <a:solidFill>
              <a:srgbClr val="5BB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8"/>
          <p:cNvSpPr/>
          <p:nvPr/>
        </p:nvSpPr>
        <p:spPr>
          <a:xfrm>
            <a:off x="1005840" y="1645920"/>
            <a:ext cx="101955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Base Teórica: </a:t>
            </a:r>
            <a:r>
              <a:rPr lang="en-US" sz="14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MENEZES, Paulo Blauth. Linguagens Formais e Autômatos, 6ª edição. Porto Alegre: Bookman, 2011. (Capítulo 2: Linguagens e Gramáticas).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https://integrada.minhabiblioteca.com.br/reader/books/9788577807994/pageid/9</a:t>
            </a:r>
            <a:endParaRPr sz="14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Aplicação Prática: </a:t>
            </a:r>
            <a:r>
              <a:rPr lang="en-US" sz="14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AHO, Alfred V. et al. Compiladores: Princípios, Técnicas e Ferramentas, 2ª edição. São Paulo: Pearson Addison-Wesley, 2007. (Capítulo 1 e 3).</a:t>
            </a:r>
            <a:endParaRPr/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Font typeface="Calibri"/>
              <a:buNone/>
            </a:pPr>
            <a:r>
              <a:t/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Diretrizes: </a:t>
            </a:r>
            <a:r>
              <a:rPr lang="en-US" sz="1450">
                <a:solidFill>
                  <a:srgbClr val="EAF3F8"/>
                </a:solidFill>
                <a:latin typeface="Arial"/>
                <a:ea typeface="Arial"/>
                <a:cs typeface="Arial"/>
                <a:sym typeface="Arial"/>
              </a:rPr>
              <a:t>Plano de Ensino da disciplina de Linguagens Formais e Compiladores – UNIJUÍ.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FCBEA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7FCBEA"/>
                </a:solidFill>
                <a:latin typeface="Arial"/>
                <a:ea typeface="Arial"/>
                <a:cs typeface="Arial"/>
                <a:sym typeface="Arial"/>
              </a:rPr>
              <a:t>Produção do material: </a:t>
            </a:r>
            <a:r>
              <a:rPr i="1" lang="en-US" sz="1450">
                <a:solidFill>
                  <a:srgbClr val="9FB3C4"/>
                </a:solidFill>
                <a:latin typeface="Arial"/>
                <a:ea typeface="Arial"/>
                <a:cs typeface="Arial"/>
                <a:sym typeface="Arial"/>
              </a:rPr>
              <a:t>Estruturação inicial com Gemini / NotebookLM. Revisão de conteúdo e conversão para formato editável com apoio do Claude (Anthropic).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